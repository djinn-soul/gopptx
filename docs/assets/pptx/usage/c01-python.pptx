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C01 Markdown + Mermaid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Markdown To PPTX To Native PDF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Complex markdown deck with many mermaid diagrams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Generated through task example: 03-markdown-to-pptx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Output artifacts:</a:t>
            </a:r>
          </a:p>
          <a:p>
            <a:pPr lvl="1" marL="1371600" indent="-914400">
              <a:buChar char="•"/>
            </a:pPr>
            <a:r>
              <a:rPr lang="en-US" sz="1800" b="0" i="0" u="none" dirty="0"/>
              <a:t>03_markdown_mermaid_complex.md</a:t>
            </a:r>
          </a:p>
          <a:p>
            <a:pPr lvl="1" marL="1371600" indent="-914400">
              <a:buChar char="•"/>
            </a:pPr>
            <a:r>
              <a:rPr lang="en-US" sz="1800" b="0" i="0" u="none" dirty="0"/>
              <a:t>03_markdown_mermaid_complex.pptx</a:t>
            </a:r>
          </a:p>
          <a:p>
            <a:pPr lvl="1" marL="1371600" indent="-914400">
              <a:buChar char="•"/>
            </a:pPr>
            <a:r>
              <a:rPr lang="en-US" sz="1800" b="0" i="0" u="none" dirty="0"/>
              <a:t>03_markdown_mermaid_complex.pdf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Flowchart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457200" y="3145054"/>
            <a:ext cx="1155032" cy="433137"/>
          </a:xfrm>
          <a:prstGeom prst="rect">
            <a:avLst/>
          </a:prstGeom>
          <a:solidFill>
            <a:srgbClr val="ECECFF"/>
          </a:solidFill>
          <a:ln w="10026">
            <a:solidFill>
              <a:srgbClr val="9370DB"/>
            </a:solidFill>
          </a:ln>
        </p:spPr>
        <p:txBody>
          <a:bodyPr wrap="square" rtlCol="0" anchor="ctr" lIns="72189" tIns="36095" rIns="72189" bIns="36095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3416968" y="3145054"/>
            <a:ext cx="2310063" cy="866274"/>
          </a:xfrm>
          <a:prstGeom prst="diamond">
            <a:avLst/>
          </a:prstGeom>
          <a:solidFill>
            <a:srgbClr val="F4F4F4"/>
          </a:solidFill>
          <a:ln w="10026">
            <a:solidFill>
              <a:srgbClr val="9370DB"/>
            </a:solidFill>
          </a:ln>
        </p:spPr>
        <p:txBody>
          <a:bodyPr wrap="square" rtlCol="0" anchor="ctr" lIns="72189" tIns="36095" rIns="72189" bIns="36095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900" b="0" i="0" u="none" dirty="0">
                <a:solidFill>
                  <a:srgbClr val="000000"/>
                </a:solidFill>
              </a:rPr>
              <a:t>Decision</a:t>
            </a:r>
          </a:p>
        </p:txBody>
      </p:sp>
      <p:sp>
        <p:nvSpPr>
          <p:cNvPr id="5" name="Shape 5" descr=""/>
          <p:cNvSpPr/>
          <p:nvPr/>
        </p:nvSpPr>
        <p:spPr>
          <a:xfrm>
            <a:off x="7531768" y="3145054"/>
            <a:ext cx="1155032" cy="433137"/>
          </a:xfrm>
          <a:prstGeom prst="rect">
            <a:avLst/>
          </a:prstGeom>
          <a:solidFill>
            <a:srgbClr val="ECECFF"/>
          </a:solidFill>
          <a:ln w="10026">
            <a:solidFill>
              <a:srgbClr val="9370DB"/>
            </a:solidFill>
          </a:ln>
        </p:spPr>
        <p:txBody>
          <a:bodyPr wrap="square" rtlCol="0" anchor="ctr" lIns="72189" tIns="36095" rIns="72189" bIns="36095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Ship</a:t>
            </a:r>
          </a:p>
        </p:txBody>
      </p:sp>
      <p:sp>
        <p:nvSpPr>
          <p:cNvPr id="6" name="Shape 6" descr=""/>
          <p:cNvSpPr/>
          <p:nvPr/>
        </p:nvSpPr>
        <p:spPr>
          <a:xfrm>
            <a:off x="7531768" y="4011328"/>
            <a:ext cx="1155032" cy="433137"/>
          </a:xfrm>
          <a:prstGeom prst="rect">
            <a:avLst/>
          </a:prstGeom>
          <a:solidFill>
            <a:srgbClr val="ECECFF"/>
          </a:solidFill>
          <a:ln w="10026">
            <a:solidFill>
              <a:srgbClr val="9370DB"/>
            </a:solidFill>
          </a:ln>
        </p:spPr>
        <p:txBody>
          <a:bodyPr wrap="square" rtlCol="0" anchor="ctr" lIns="72189" tIns="36095" rIns="72189" bIns="36095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Revise</a:t>
            </a:r>
          </a:p>
        </p:txBody>
      </p:sp>
      <p:sp>
        <p:nvSpPr>
          <p:cNvPr id="7" name="Shape 7" descr=""/>
          <p:cNvSpPr/>
          <p:nvPr/>
        </p:nvSpPr>
        <p:spPr>
          <a:xfrm>
            <a:off x="6430879" y="3274995"/>
            <a:ext cx="397042" cy="158817"/>
          </a:xfrm>
          <a:prstGeom prst="rect">
            <a:avLst/>
          </a:prstGeom>
          <a:noFill/>
        </p:spPr>
        <p:txBody>
          <a:bodyPr wrap="square" rtlCol="0" anchor="ctr" lIns="36095" tIns="36095" rIns="36095" bIns="36095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8" name="Shape 8" descr=""/>
          <p:cNvSpPr/>
          <p:nvPr/>
        </p:nvSpPr>
        <p:spPr>
          <a:xfrm>
            <a:off x="6430879" y="3708132"/>
            <a:ext cx="397042" cy="158817"/>
          </a:xfrm>
          <a:prstGeom prst="rect">
            <a:avLst/>
          </a:prstGeom>
          <a:noFill/>
        </p:spPr>
        <p:txBody>
          <a:bodyPr wrap="square" rtlCol="0" anchor="ctr" lIns="36095" tIns="36095" rIns="36095" bIns="36095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No</a:t>
            </a:r>
          </a:p>
        </p:txBody>
      </p:sp>
      <p:cxnSp>
        <p:nvCxnSpPr>
          <p:cNvPr id="9" name="Connector 9" descr=""/>
          <p:cNvCxnSpPr>
            <a:stCxn id="3" idx="1"/>
            <a:endCxn id="4" idx="3"/>
          </p:cNvCxnSpPr>
          <p:nvPr/>
        </p:nvCxnSpPr>
        <p:spPr>
          <a:xfrm>
            <a:off x="1612232" y="3361622"/>
            <a:ext cx="1804736" cy="216569"/>
          </a:xfrm>
          <a:prstGeom prst="straightConnector1">
            <a:avLst/>
          </a:prstGeom>
          <a:ln w="10026">
            <a:solidFill>
              <a:srgbClr val="9370DB"/>
            </a:solidFill>
            <a:tailEnd type="triangle" w="med" len="med"/>
          </a:ln>
        </p:spPr>
      </p:cxnSp>
      <p:cxnSp>
        <p:nvCxnSpPr>
          <p:cNvPr id="10" name="Connector 10" descr=""/>
          <p:cNvCxnSpPr>
            <a:stCxn id="4" idx="1"/>
            <a:endCxn id="5" idx="3"/>
          </p:cNvCxnSpPr>
          <p:nvPr/>
        </p:nvCxnSpPr>
        <p:spPr>
          <a:xfrm flipV="1">
            <a:off x="5727032" y="3361622"/>
            <a:ext cx="1804736" cy="216569"/>
          </a:xfrm>
          <a:prstGeom prst="straightConnector1">
            <a:avLst/>
          </a:prstGeom>
          <a:ln w="10026">
            <a:solidFill>
              <a:srgbClr val="9370DB"/>
            </a:solidFill>
            <a:tailEnd type="triangle" w="med" len="med"/>
          </a:ln>
        </p:spPr>
      </p:cxnSp>
      <p:cxnSp>
        <p:nvCxnSpPr>
          <p:cNvPr id="11" name="Connector 11" descr=""/>
          <p:cNvCxnSpPr>
            <a:stCxn id="4" idx="1"/>
            <a:endCxn id="6" idx="3"/>
          </p:cNvCxnSpPr>
          <p:nvPr/>
        </p:nvCxnSpPr>
        <p:spPr>
          <a:xfrm>
            <a:off x="5727032" y="3578191"/>
            <a:ext cx="1804736" cy="649705"/>
          </a:xfrm>
          <a:prstGeom prst="straightConnector1">
            <a:avLst/>
          </a:prstGeom>
          <a:ln w="10026">
            <a:solidFill>
              <a:srgbClr val="9370DB"/>
            </a:solidFill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Sequence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2834640" y="1417320"/>
            <a:ext cx="1463040" cy="54864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200" b="0" i="0" u="none" dirty="0">
                <a:solidFill>
                  <a:srgbClr val="000000"/>
                </a:solidFill>
              </a:rPr>
              <a:t>Alice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3556160" y="1965960"/>
            <a:ext cx="20000" cy="36576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5" name="Shape 5" descr=""/>
          <p:cNvSpPr/>
          <p:nvPr/>
        </p:nvSpPr>
        <p:spPr>
          <a:xfrm>
            <a:off x="2834640" y="5623560"/>
            <a:ext cx="1463040" cy="54864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200" b="0" i="0" u="none" dirty="0">
                <a:solidFill>
                  <a:srgbClr val="000000"/>
                </a:solidFill>
              </a:rPr>
              <a:t>Alice</a:t>
            </a:r>
          </a:p>
        </p:txBody>
      </p:sp>
      <p:sp>
        <p:nvSpPr>
          <p:cNvPr id="6" name="Shape 6" descr=""/>
          <p:cNvSpPr/>
          <p:nvPr/>
        </p:nvSpPr>
        <p:spPr>
          <a:xfrm>
            <a:off x="4846320" y="1417320"/>
            <a:ext cx="1463040" cy="54864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200" b="0" i="0" u="none" dirty="0">
                <a:solidFill>
                  <a:srgbClr val="000000"/>
                </a:solidFill>
              </a:rPr>
              <a:t>Bob</a:t>
            </a:r>
          </a:p>
        </p:txBody>
      </p:sp>
      <p:sp>
        <p:nvSpPr>
          <p:cNvPr id="7" name="Shape 7" descr=""/>
          <p:cNvSpPr/>
          <p:nvPr/>
        </p:nvSpPr>
        <p:spPr>
          <a:xfrm>
            <a:off x="5567840" y="1965960"/>
            <a:ext cx="20000" cy="36576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8" name="Shape 8" descr=""/>
          <p:cNvSpPr/>
          <p:nvPr/>
        </p:nvSpPr>
        <p:spPr>
          <a:xfrm>
            <a:off x="4846320" y="5623560"/>
            <a:ext cx="1463040" cy="54864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200" b="0" i="0" u="none" dirty="0">
                <a:solidFill>
                  <a:srgbClr val="000000"/>
                </a:solidFill>
              </a:rPr>
              <a:t>Bob</a:t>
            </a:r>
          </a:p>
        </p:txBody>
      </p:sp>
      <p:sp>
        <p:nvSpPr>
          <p:cNvPr id="9" name="Shape 9" descr=""/>
          <p:cNvSpPr/>
          <p:nvPr/>
        </p:nvSpPr>
        <p:spPr>
          <a:xfrm>
            <a:off x="3566160" y="2240280"/>
            <a:ext cx="2011680" cy="137160"/>
          </a:xfrm>
          <a:prstGeom prst="rightArrow">
            <a:avLst/>
          </a:prstGeom>
          <a:solidFill>
            <a:srgbClr val="9370DB"/>
          </a:solidFill>
        </p:spPr>
        <p:txBody>
          <a:bodyPr/>
          <a:lstStyle/>
          <a:p/>
        </p:txBody>
      </p:sp>
      <p:sp>
        <p:nvSpPr>
          <p:cNvPr id="10" name="Shape 10" descr=""/>
          <p:cNvSpPr/>
          <p:nvPr/>
        </p:nvSpPr>
        <p:spPr>
          <a:xfrm>
            <a:off x="3566160" y="2011680"/>
            <a:ext cx="2011680" cy="182880"/>
          </a:xfrm>
          <a:prstGeom prst="rect">
            <a:avLst/>
          </a:prstGeom>
          <a:noFill/>
        </p:spPr>
        <p:txBody>
          <a:bodyPr wrap="square" rtlCol="0" anchor="ctr" lIns="45720" tIns="18288" rIns="45720" bIns="18288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Hello Bob, how are you?</a:t>
            </a:r>
          </a:p>
        </p:txBody>
      </p:sp>
      <p:sp>
        <p:nvSpPr>
          <p:cNvPr id="11" name="Shape 11" descr=""/>
          <p:cNvSpPr/>
          <p:nvPr/>
        </p:nvSpPr>
        <p:spPr>
          <a:xfrm>
            <a:off x="3566160" y="2788920"/>
            <a:ext cx="2011680" cy="137160"/>
          </a:xfrm>
          <a:prstGeom prst="leftArrow">
            <a:avLst/>
          </a:prstGeom>
          <a:solidFill>
            <a:srgbClr val="9370DB"/>
          </a:solidFill>
        </p:spPr>
        <p:txBody>
          <a:bodyPr/>
          <a:lstStyle/>
          <a:p/>
        </p:txBody>
      </p:sp>
      <p:sp>
        <p:nvSpPr>
          <p:cNvPr id="12" name="Shape 12" descr=""/>
          <p:cNvSpPr/>
          <p:nvPr/>
        </p:nvSpPr>
        <p:spPr>
          <a:xfrm>
            <a:off x="3566160" y="2560320"/>
            <a:ext cx="2011680" cy="182880"/>
          </a:xfrm>
          <a:prstGeom prst="rect">
            <a:avLst/>
          </a:prstGeom>
          <a:noFill/>
        </p:spPr>
        <p:txBody>
          <a:bodyPr wrap="square" rtlCol="0" anchor="ctr" lIns="45720" tIns="18288" rIns="45720" bIns="18288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Jolly good!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Pie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571500" y="1508760"/>
            <a:ext cx="5486400" cy="548640"/>
          </a:xfrm>
          <a:prstGeom prst="rect">
            <a:avLst/>
          </a:prstGeom>
          <a:noFill/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200" b="0" i="0" u="none" dirty="0">
                <a:solidFill>
                  <a:srgbClr val="000000"/>
                </a:solidFill>
              </a:rPr>
              <a:t>Pets adopted by volunteers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1485900" y="2423160"/>
            <a:ext cx="3657600" cy="3657600"/>
          </a:xfrm>
          <a:prstGeom prst="pie">
            <a:avLst>
              <a:gd name="adj1" fmla="val 0"/>
              <a:gd name="adj2" fmla="val 17155555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/>
          <a:lstStyle/>
          <a:p/>
        </p:txBody>
      </p:sp>
      <p:sp>
        <p:nvSpPr>
          <p:cNvPr id="5" name="Shape 5" descr=""/>
          <p:cNvSpPr/>
          <p:nvPr/>
        </p:nvSpPr>
        <p:spPr>
          <a:xfrm>
            <a:off x="1485900" y="2423160"/>
            <a:ext cx="3657600" cy="3657600"/>
          </a:xfrm>
          <a:prstGeom prst="pie">
            <a:avLst>
              <a:gd name="adj1" fmla="val 17155555"/>
              <a:gd name="adj2" fmla="val 20933333"/>
            </a:avLst>
          </a:prstGeom>
          <a:solidFill>
            <a:srgbClr val="F4F4F4"/>
          </a:solidFill>
          <a:ln w="12700">
            <a:solidFill>
              <a:srgbClr val="9370DB"/>
            </a:solidFill>
          </a:ln>
        </p:spPr>
        <p:txBody>
          <a:bodyPr/>
          <a:lstStyle/>
          <a:p/>
        </p:txBody>
      </p:sp>
      <p:sp>
        <p:nvSpPr>
          <p:cNvPr id="6" name="Shape 6" descr=""/>
          <p:cNvSpPr/>
          <p:nvPr/>
        </p:nvSpPr>
        <p:spPr>
          <a:xfrm>
            <a:off x="1485900" y="2423160"/>
            <a:ext cx="3657600" cy="3657600"/>
          </a:xfrm>
          <a:prstGeom prst="pie">
            <a:avLst>
              <a:gd name="adj1" fmla="val 20933333"/>
              <a:gd name="adj2" fmla="val 21600000"/>
            </a:avLst>
          </a:prstGeom>
          <a:solidFill>
            <a:srgbClr val="4285F4"/>
          </a:solidFill>
          <a:ln w="12700">
            <a:solidFill>
              <a:srgbClr val="9370DB"/>
            </a:solidFill>
          </a:ln>
        </p:spPr>
        <p:txBody>
          <a:bodyPr/>
          <a:lstStyle/>
          <a:p/>
        </p:txBody>
      </p:sp>
      <p:sp>
        <p:nvSpPr>
          <p:cNvPr id="7" name="Shape 7" descr=""/>
          <p:cNvSpPr/>
          <p:nvPr/>
        </p:nvSpPr>
        <p:spPr>
          <a:xfrm>
            <a:off x="5600700" y="2514600"/>
            <a:ext cx="137160" cy="13716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/>
          <a:lstStyle/>
          <a:p/>
        </p:txBody>
      </p:sp>
      <p:sp>
        <p:nvSpPr>
          <p:cNvPr id="8" name="Shape 8" descr=""/>
          <p:cNvSpPr/>
          <p:nvPr/>
        </p:nvSpPr>
        <p:spPr>
          <a:xfrm>
            <a:off x="5829300" y="2423160"/>
            <a:ext cx="2743200" cy="320040"/>
          </a:xfrm>
          <a:prstGeom prst="rect">
            <a:avLst/>
          </a:prstGeom>
          <a:noFill/>
        </p:spPr>
        <p:txBody>
          <a:bodyPr wrap="square" rtlCol="0" anchor="ctr" lIns="45720" tIns="18288" rIns="45720" bIns="18288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Dogs: 79.4%</a:t>
            </a:r>
          </a:p>
        </p:txBody>
      </p:sp>
      <p:sp>
        <p:nvSpPr>
          <p:cNvPr id="9" name="Shape 9" descr=""/>
          <p:cNvSpPr/>
          <p:nvPr/>
        </p:nvSpPr>
        <p:spPr>
          <a:xfrm>
            <a:off x="5600700" y="2834640"/>
            <a:ext cx="13716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9370DB"/>
            </a:solidFill>
          </a:ln>
        </p:spPr>
        <p:txBody>
          <a:bodyPr/>
          <a:lstStyle/>
          <a:p/>
        </p:txBody>
      </p:sp>
      <p:sp>
        <p:nvSpPr>
          <p:cNvPr id="10" name="Shape 10" descr=""/>
          <p:cNvSpPr/>
          <p:nvPr/>
        </p:nvSpPr>
        <p:spPr>
          <a:xfrm>
            <a:off x="5829300" y="2743200"/>
            <a:ext cx="2743200" cy="320040"/>
          </a:xfrm>
          <a:prstGeom prst="rect">
            <a:avLst/>
          </a:prstGeom>
          <a:noFill/>
        </p:spPr>
        <p:txBody>
          <a:bodyPr wrap="square" rtlCol="0" anchor="ctr" lIns="45720" tIns="18288" rIns="45720" bIns="18288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Cats: 17.5%</a:t>
            </a:r>
          </a:p>
        </p:txBody>
      </p:sp>
      <p:sp>
        <p:nvSpPr>
          <p:cNvPr id="11" name="Shape 11" descr=""/>
          <p:cNvSpPr/>
          <p:nvPr/>
        </p:nvSpPr>
        <p:spPr>
          <a:xfrm>
            <a:off x="5600700" y="3154680"/>
            <a:ext cx="137160" cy="137160"/>
          </a:xfrm>
          <a:prstGeom prst="rect">
            <a:avLst/>
          </a:prstGeom>
          <a:solidFill>
            <a:srgbClr val="4285F4"/>
          </a:solidFill>
          <a:ln w="12700">
            <a:solidFill>
              <a:srgbClr val="9370DB"/>
            </a:solidFill>
          </a:ln>
        </p:spPr>
        <p:txBody>
          <a:bodyPr/>
          <a:lstStyle/>
          <a:p/>
        </p:txBody>
      </p:sp>
      <p:sp>
        <p:nvSpPr>
          <p:cNvPr id="12" name="Shape 12" descr=""/>
          <p:cNvSpPr/>
          <p:nvPr/>
        </p:nvSpPr>
        <p:spPr>
          <a:xfrm>
            <a:off x="5829300" y="3063240"/>
            <a:ext cx="2743200" cy="320040"/>
          </a:xfrm>
          <a:prstGeom prst="rect">
            <a:avLst/>
          </a:prstGeom>
          <a:noFill/>
        </p:spPr>
        <p:txBody>
          <a:bodyPr wrap="square" rtlCol="0" anchor="ctr" lIns="45720" tIns="18288" rIns="45720" bIns="18288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Rats: 3.1%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Gantt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685800" y="2491740"/>
            <a:ext cx="777240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757575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200" b="0" i="0" u="none" dirty="0">
                <a:solidFill>
                  <a:srgbClr val="000000"/>
                </a:solidFill>
              </a:rPr>
              <a:t>A Gantt Diagram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2971800" y="3383280"/>
            <a:ext cx="5486400" cy="19050"/>
          </a:xfrm>
          <a:prstGeom prst="rect">
            <a:avLst/>
          </a:prstGeom>
          <a:solidFill>
            <a:srgbClr val="9370DB"/>
          </a:solidFill>
        </p:spPr>
        <p:txBody>
          <a:bodyPr/>
          <a:lstStyle/>
          <a:p/>
        </p:txBody>
      </p:sp>
      <p:sp>
        <p:nvSpPr>
          <p:cNvPr id="5" name="Shape 5" descr=""/>
          <p:cNvSpPr/>
          <p:nvPr/>
        </p:nvSpPr>
        <p:spPr>
          <a:xfrm>
            <a:off x="2962275" y="3328416"/>
            <a:ext cx="19050" cy="109728"/>
          </a:xfrm>
          <a:prstGeom prst="rect">
            <a:avLst/>
          </a:prstGeom>
          <a:solidFill>
            <a:srgbClr val="9370DB"/>
          </a:solidFill>
        </p:spPr>
        <p:txBody>
          <a:bodyPr/>
          <a:lstStyle/>
          <a:p/>
        </p:txBody>
      </p:sp>
      <p:sp>
        <p:nvSpPr>
          <p:cNvPr id="6" name="Shape 6" descr=""/>
          <p:cNvSpPr/>
          <p:nvPr/>
        </p:nvSpPr>
        <p:spPr>
          <a:xfrm>
            <a:off x="2587752" y="3223260"/>
            <a:ext cx="768096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rtlCol="0" anchor="ctr" lIns="45720" tIns="45720" rIns="4572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2014-01-01</a:t>
            </a:r>
          </a:p>
        </p:txBody>
      </p:sp>
      <p:sp>
        <p:nvSpPr>
          <p:cNvPr id="7" name="Shape 7" descr=""/>
          <p:cNvSpPr/>
          <p:nvPr/>
        </p:nvSpPr>
        <p:spPr>
          <a:xfrm>
            <a:off x="685800" y="3634740"/>
            <a:ext cx="777240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757575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200" b="0" i="0" u="none" dirty="0">
                <a:solidFill>
                  <a:srgbClr val="000000"/>
                </a:solidFill>
              </a:rPr>
              <a:t>Section</a:t>
            </a:r>
          </a:p>
        </p:txBody>
      </p:sp>
      <p:sp>
        <p:nvSpPr>
          <p:cNvPr id="8" name="Shape 8" descr=""/>
          <p:cNvSpPr/>
          <p:nvPr/>
        </p:nvSpPr>
        <p:spPr>
          <a:xfrm>
            <a:off x="685800" y="418338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57575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A task</a:t>
            </a:r>
          </a:p>
        </p:txBody>
      </p:sp>
      <p:sp>
        <p:nvSpPr>
          <p:cNvPr id="9" name="Shape 9" descr=""/>
          <p:cNvSpPr/>
          <p:nvPr/>
        </p:nvSpPr>
        <p:spPr>
          <a:xfrm>
            <a:off x="3429000" y="4229100"/>
            <a:ext cx="2011680" cy="36576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45720" tIns="45720" rIns="4572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30d</a:t>
            </a:r>
          </a:p>
        </p:txBody>
      </p:sp>
      <p:sp>
        <p:nvSpPr>
          <p:cNvPr id="10" name="Shape 10" descr=""/>
          <p:cNvSpPr/>
          <p:nvPr/>
        </p:nvSpPr>
        <p:spPr>
          <a:xfrm>
            <a:off x="685800" y="464058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57575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Another task</a:t>
            </a:r>
          </a:p>
        </p:txBody>
      </p:sp>
      <p:sp>
        <p:nvSpPr>
          <p:cNvPr id="11" name="Shape 11" descr=""/>
          <p:cNvSpPr/>
          <p:nvPr/>
        </p:nvSpPr>
        <p:spPr>
          <a:xfrm>
            <a:off x="3429000" y="4686300"/>
            <a:ext cx="2011680" cy="36576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45720" tIns="45720" rIns="4572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20d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Timeline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914400" y="1668780"/>
            <a:ext cx="731520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757575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200" b="0" i="0" u="none" dirty="0">
                <a:solidFill>
                  <a:srgbClr val="000000"/>
                </a:solidFill>
              </a:rPr>
              <a:t>History of Social Media Platform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914400" y="4411980"/>
            <a:ext cx="4206240" cy="50000"/>
          </a:xfrm>
          <a:prstGeom prst="rect">
            <a:avLst/>
          </a:prstGeom>
          <a:solidFill>
            <a:srgbClr val="9370DB"/>
          </a:solidFill>
        </p:spPr>
        <p:txBody>
          <a:bodyPr/>
          <a:lstStyle/>
          <a:p/>
        </p:txBody>
      </p:sp>
      <p:sp>
        <p:nvSpPr>
          <p:cNvPr id="5" name="Shape 5" descr=""/>
          <p:cNvSpPr/>
          <p:nvPr/>
        </p:nvSpPr>
        <p:spPr>
          <a:xfrm>
            <a:off x="1645920" y="4320540"/>
            <a:ext cx="182880" cy="18288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" name="Shape 6" descr=""/>
          <p:cNvSpPr/>
          <p:nvPr/>
        </p:nvSpPr>
        <p:spPr>
          <a:xfrm>
            <a:off x="914400" y="459486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57575"/>
            </a:solidFill>
          </a:ln>
        </p:spPr>
        <p:txBody>
          <a:bodyPr wrap="square" rtlCol="0" anchor="ctr" lIns="45720" tIns="18288" rIns="45720" bIns="18288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2002</a:t>
            </a:r>
          </a:p>
        </p:txBody>
      </p:sp>
      <p:sp>
        <p:nvSpPr>
          <p:cNvPr id="7" name="Shape 7" descr=""/>
          <p:cNvSpPr/>
          <p:nvPr/>
        </p:nvSpPr>
        <p:spPr>
          <a:xfrm>
            <a:off x="914400" y="3863340"/>
            <a:ext cx="1645920" cy="36576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LinkedIn</a:t>
            </a:r>
          </a:p>
        </p:txBody>
      </p:sp>
      <p:sp>
        <p:nvSpPr>
          <p:cNvPr id="8" name="Shape 8" descr=""/>
          <p:cNvSpPr/>
          <p:nvPr/>
        </p:nvSpPr>
        <p:spPr>
          <a:xfrm>
            <a:off x="3749040" y="4320540"/>
            <a:ext cx="182880" cy="18288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" name="Shape 9" descr=""/>
          <p:cNvSpPr/>
          <p:nvPr/>
        </p:nvSpPr>
        <p:spPr>
          <a:xfrm>
            <a:off x="3017520" y="459486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57575"/>
            </a:solidFill>
          </a:ln>
        </p:spPr>
        <p:txBody>
          <a:bodyPr wrap="square" rtlCol="0" anchor="ctr" lIns="45720" tIns="18288" rIns="45720" bIns="18288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2004</a:t>
            </a:r>
          </a:p>
        </p:txBody>
      </p:sp>
      <p:sp>
        <p:nvSpPr>
          <p:cNvPr id="10" name="Shape 10" descr=""/>
          <p:cNvSpPr/>
          <p:nvPr/>
        </p:nvSpPr>
        <p:spPr>
          <a:xfrm>
            <a:off x="3017520" y="5143500"/>
            <a:ext cx="1645920" cy="36576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Facebook</a:t>
            </a:r>
          </a:p>
        </p:txBody>
      </p:sp>
      <p:sp>
        <p:nvSpPr>
          <p:cNvPr id="11" name="Shape 11" descr=""/>
          <p:cNvSpPr/>
          <p:nvPr/>
        </p:nvSpPr>
        <p:spPr>
          <a:xfrm>
            <a:off x="3017520" y="5554980"/>
            <a:ext cx="1645920" cy="36576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Google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Quadrant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2714719" y="1097280"/>
            <a:ext cx="4422098" cy="442210"/>
          </a:xfrm>
          <a:prstGeom prst="rect">
            <a:avLst/>
          </a:prstGeom>
          <a:solidFill>
            <a:srgbClr val="F4F4F4"/>
          </a:solidFill>
          <a:ln w="12284">
            <a:solidFill>
              <a:srgbClr val="757575"/>
            </a:solidFill>
          </a:ln>
        </p:spPr>
        <p:txBody>
          <a:bodyPr wrap="square" rtlCol="0" anchor="ctr" lIns="457200" tIns="457200" rIns="457200" bIns="457200">
            <a:sp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Reach and engagement of campaigns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4925768" y="1716374"/>
            <a:ext cx="2211049" cy="2211049"/>
          </a:xfrm>
          <a:prstGeom prst="rect">
            <a:avLst/>
          </a:prstGeom>
          <a:solidFill>
            <a:srgbClr val="ECECFF"/>
          </a:solidFill>
          <a:ln w="12284">
            <a:solidFill>
              <a:srgbClr val="757575"/>
            </a:solidFill>
          </a:ln>
        </p:spPr>
        <p:txBody>
          <a:bodyPr/>
          <a:lstStyle/>
          <a:p/>
        </p:txBody>
      </p:sp>
      <p:sp>
        <p:nvSpPr>
          <p:cNvPr id="5" name="Shape 5" descr=""/>
          <p:cNvSpPr/>
          <p:nvPr/>
        </p:nvSpPr>
        <p:spPr>
          <a:xfrm>
            <a:off x="4996521" y="1787127"/>
            <a:ext cx="2069542" cy="26532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rtlCol="0" anchor="ctr" lIns="44221" tIns="44221" rIns="44221" bIns="44221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We should expand</a:t>
            </a:r>
          </a:p>
        </p:txBody>
      </p:sp>
      <p:sp>
        <p:nvSpPr>
          <p:cNvPr id="6" name="Shape 6" descr=""/>
          <p:cNvSpPr/>
          <p:nvPr/>
        </p:nvSpPr>
        <p:spPr>
          <a:xfrm>
            <a:off x="2714719" y="1716374"/>
            <a:ext cx="2211049" cy="2211049"/>
          </a:xfrm>
          <a:prstGeom prst="rect">
            <a:avLst/>
          </a:prstGeom>
          <a:solidFill>
            <a:srgbClr val="F4F4F4"/>
          </a:solidFill>
          <a:ln w="12284">
            <a:solidFill>
              <a:srgbClr val="757575"/>
            </a:solidFill>
          </a:ln>
        </p:spPr>
        <p:txBody>
          <a:bodyPr/>
          <a:lstStyle/>
          <a:p/>
        </p:txBody>
      </p:sp>
      <p:sp>
        <p:nvSpPr>
          <p:cNvPr id="7" name="Shape 7" descr=""/>
          <p:cNvSpPr/>
          <p:nvPr/>
        </p:nvSpPr>
        <p:spPr>
          <a:xfrm>
            <a:off x="2714719" y="3927423"/>
            <a:ext cx="2211049" cy="2211049"/>
          </a:xfrm>
          <a:prstGeom prst="rect">
            <a:avLst/>
          </a:prstGeom>
          <a:solidFill>
            <a:srgbClr val="FFFFFF"/>
          </a:solidFill>
          <a:ln w="12284">
            <a:solidFill>
              <a:srgbClr val="757575"/>
            </a:solidFill>
          </a:ln>
        </p:spPr>
        <p:txBody>
          <a:bodyPr/>
          <a:lstStyle/>
          <a:p/>
        </p:txBody>
      </p:sp>
      <p:sp>
        <p:nvSpPr>
          <p:cNvPr id="8" name="Shape 8" descr=""/>
          <p:cNvSpPr/>
          <p:nvPr/>
        </p:nvSpPr>
        <p:spPr>
          <a:xfrm>
            <a:off x="4925768" y="3927423"/>
            <a:ext cx="2211049" cy="2211049"/>
          </a:xfrm>
          <a:prstGeom prst="rect">
            <a:avLst/>
          </a:prstGeom>
          <a:solidFill>
            <a:srgbClr val="ECECFF"/>
          </a:solidFill>
          <a:ln w="12284">
            <a:solidFill>
              <a:srgbClr val="757575"/>
            </a:solidFill>
          </a:ln>
        </p:spPr>
        <p:txBody>
          <a:bodyPr/>
          <a:lstStyle/>
          <a:p/>
        </p:txBody>
      </p:sp>
      <p:sp>
        <p:nvSpPr>
          <p:cNvPr id="9" name="Shape 9" descr=""/>
          <p:cNvSpPr/>
          <p:nvPr/>
        </p:nvSpPr>
        <p:spPr>
          <a:xfrm>
            <a:off x="2714719" y="3927423"/>
            <a:ext cx="4422098" cy="24567"/>
          </a:xfrm>
          <a:prstGeom prst="rect">
            <a:avLst/>
          </a:prstGeom>
          <a:solidFill>
            <a:srgbClr val="9370DB"/>
          </a:solidFill>
        </p:spPr>
        <p:txBody>
          <a:bodyPr/>
          <a:lstStyle/>
          <a:p/>
        </p:txBody>
      </p:sp>
      <p:sp>
        <p:nvSpPr>
          <p:cNvPr id="10" name="Shape 10" descr=""/>
          <p:cNvSpPr/>
          <p:nvPr/>
        </p:nvSpPr>
        <p:spPr>
          <a:xfrm>
            <a:off x="4925768" y="1716374"/>
            <a:ext cx="24567" cy="4422098"/>
          </a:xfrm>
          <a:prstGeom prst="rect">
            <a:avLst/>
          </a:prstGeom>
          <a:solidFill>
            <a:srgbClr val="9370DB"/>
          </a:solidFill>
        </p:spPr>
        <p:txBody>
          <a:bodyPr/>
          <a:lstStyle/>
          <a:p/>
        </p:txBody>
      </p:sp>
      <p:sp>
        <p:nvSpPr>
          <p:cNvPr id="11" name="Shape 11" descr=""/>
          <p:cNvSpPr/>
          <p:nvPr/>
        </p:nvSpPr>
        <p:spPr>
          <a:xfrm>
            <a:off x="2714719" y="6226914"/>
            <a:ext cx="4422098" cy="265326"/>
          </a:xfrm>
          <a:prstGeom prst="rect">
            <a:avLst/>
          </a:prstGeom>
          <a:solidFill>
            <a:srgbClr val="FFFFFF"/>
          </a:solidFill>
          <a:ln w="12284">
            <a:solidFill>
              <a:srgbClr val="757575"/>
            </a:solidFill>
          </a:ln>
        </p:spPr>
        <p:txBody>
          <a:bodyPr wrap="square" rtlCol="0" anchor="ctr" lIns="457200" tIns="457200" rIns="457200" bIns="457200">
            <a:sp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Low Reach --&gt; High Reach</a:t>
            </a:r>
          </a:p>
        </p:txBody>
      </p:sp>
      <p:sp>
        <p:nvSpPr>
          <p:cNvPr id="12" name="Shape 12" descr=""/>
          <p:cNvSpPr/>
          <p:nvPr/>
        </p:nvSpPr>
        <p:spPr>
          <a:xfrm rot="-5400000">
            <a:off x="2007183" y="2512351"/>
            <a:ext cx="283014" cy="283014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rtlCol="0" anchor="ctr" lIns="17688" tIns="35377" rIns="17688" bIns="35377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Low Engagement  -&gt;  High Engagement</a:t>
            </a:r>
          </a:p>
        </p:txBody>
      </p:sp>
      <p:sp>
        <p:nvSpPr>
          <p:cNvPr id="13" name="Shape 13" descr=""/>
          <p:cNvSpPr/>
          <p:nvPr/>
        </p:nvSpPr>
        <p:spPr>
          <a:xfrm>
            <a:off x="3997127" y="3440992"/>
            <a:ext cx="88442" cy="88442"/>
          </a:xfrm>
          <a:prstGeom prst="ellipse">
            <a:avLst/>
          </a:prstGeom>
          <a:solidFill>
            <a:srgbClr val="9370DB"/>
          </a:solidFill>
          <a:ln w="12284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" name="Shape 14" descr=""/>
          <p:cNvSpPr/>
          <p:nvPr/>
        </p:nvSpPr>
        <p:spPr>
          <a:xfrm>
            <a:off x="4165167" y="3184510"/>
            <a:ext cx="1061304" cy="24763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rtlCol="0" anchor="ctr" lIns="44221" tIns="44221" rIns="44221" bIns="44221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Campaign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Class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2194560" y="3246120"/>
            <a:ext cx="2011680" cy="45720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Animal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2194560" y="370332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</a:ln>
        </p:spPr>
        <p:txBody>
          <a:bodyPr wrap="square" rtlCol="0" anchor="t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+String name</a:t>
            </a:r>
          </a:p>
        </p:txBody>
      </p:sp>
      <p:sp>
        <p:nvSpPr>
          <p:cNvPr id="5" name="Shape 5" descr=""/>
          <p:cNvSpPr/>
          <p:nvPr/>
        </p:nvSpPr>
        <p:spPr>
          <a:xfrm>
            <a:off x="2194560" y="402336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</a:ln>
        </p:spPr>
        <p:txBody>
          <a:bodyPr wrap="square" rtlCol="0" anchor="t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+isMammal()</a:t>
            </a:r>
          </a:p>
        </p:txBody>
      </p:sp>
      <p:sp>
        <p:nvSpPr>
          <p:cNvPr id="6" name="Shape 6" descr=""/>
          <p:cNvSpPr/>
          <p:nvPr/>
        </p:nvSpPr>
        <p:spPr>
          <a:xfrm>
            <a:off x="4937760" y="3246120"/>
            <a:ext cx="2011680" cy="45720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Dog</a:t>
            </a:r>
          </a:p>
        </p:txBody>
      </p:sp>
      <p:sp>
        <p:nvSpPr>
          <p:cNvPr id="7" name="Shape 7" descr=""/>
          <p:cNvSpPr/>
          <p:nvPr/>
        </p:nvSpPr>
        <p:spPr>
          <a:xfrm>
            <a:off x="4937760" y="370332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</a:ln>
        </p:spPr>
        <p:txBody>
          <a:bodyPr wrap="square" rtlCol="0" anchor="t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+bark()</a:t>
            </a:r>
          </a:p>
        </p:txBody>
      </p:sp>
      <p:sp>
        <p:nvSpPr>
          <p:cNvPr id="8" name="Shape 8" descr=""/>
          <p:cNvSpPr/>
          <p:nvPr/>
        </p:nvSpPr>
        <p:spPr>
          <a:xfrm rot="5400000">
            <a:off x="4023360" y="3383280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9370DB"/>
            </a:solidFill>
          </a:ln>
        </p:spPr>
        <p:txBody>
          <a:bodyPr/>
          <a:lstStyle/>
          <a:p/>
        </p:txBody>
      </p:sp>
      <p:cxnSp>
        <p:nvCxnSpPr>
          <p:cNvPr id="9" name="Connector 9" descr=""/>
          <p:cNvCxnSpPr>
            <a:stCxn id="6" idx="3"/>
            <a:endCxn id="3" idx="1"/>
          </p:cNvCxnSpPr>
          <p:nvPr/>
        </p:nvCxnSpPr>
        <p:spPr>
          <a:xfrm flipH="1">
            <a:off x="4206240" y="3474720"/>
            <a:ext cx="731520" cy="0"/>
          </a:xfrm>
          <a:prstGeom prst="bentConnector3">
            <a:avLst/>
          </a:prstGeom>
          <a:ln w="12700">
            <a:solidFill>
              <a:srgbClr val="9370DB"/>
            </a:solidFill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State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1517904" y="2907792"/>
            <a:ext cx="329184" cy="329184"/>
          </a:xfrm>
          <a:prstGeom prst="ellipse">
            <a:avLst/>
          </a:prstGeom>
          <a:solidFill>
            <a:srgbClr val="9370DB"/>
          </a:solidFill>
          <a:ln w="12700">
            <a:solidFill>
              <a:srgbClr val="9370DB"/>
            </a:solidFill>
          </a:ln>
        </p:spPr>
        <p:txBody>
          <a:bodyPr/>
          <a:lstStyle/>
          <a:p/>
        </p:txBody>
      </p:sp>
      <p:sp>
        <p:nvSpPr>
          <p:cNvPr id="4" name="Shape 4" descr=""/>
          <p:cNvSpPr/>
          <p:nvPr/>
        </p:nvSpPr>
        <p:spPr>
          <a:xfrm>
            <a:off x="3419856" y="2706624"/>
            <a:ext cx="1645920" cy="73152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600" b="0" i="0" u="none" dirty="0">
                <a:solidFill>
                  <a:srgbClr val="000000"/>
                </a:solidFill>
              </a:rPr>
              <a:t>First</a:t>
            </a:r>
          </a:p>
        </p:txBody>
      </p:sp>
      <p:sp>
        <p:nvSpPr>
          <p:cNvPr id="5" name="Shape 5" descr=""/>
          <p:cNvSpPr/>
          <p:nvPr/>
        </p:nvSpPr>
        <p:spPr>
          <a:xfrm>
            <a:off x="5980176" y="2706624"/>
            <a:ext cx="1645920" cy="73152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600" b="0" i="0" u="none" dirty="0">
                <a:solidFill>
                  <a:srgbClr val="000000"/>
                </a:solidFill>
              </a:rPr>
              <a:t>Second</a:t>
            </a:r>
          </a:p>
        </p:txBody>
      </p:sp>
      <p:sp>
        <p:nvSpPr>
          <p:cNvPr id="6" name="Shape 6" descr=""/>
          <p:cNvSpPr/>
          <p:nvPr/>
        </p:nvSpPr>
        <p:spPr>
          <a:xfrm>
            <a:off x="1517904" y="455371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70DB"/>
            </a:solidFill>
          </a:ln>
        </p:spPr>
        <p:txBody>
          <a:bodyPr/>
          <a:lstStyle/>
          <a:p/>
        </p:txBody>
      </p:sp>
      <p:cxnSp>
        <p:nvCxnSpPr>
          <p:cNvPr id="7" name="Connector 7" descr=""/>
          <p:cNvCxnSpPr>
            <a:stCxn id="3" idx="1"/>
            <a:endCxn id="4" idx="3"/>
          </p:cNvCxnSpPr>
          <p:nvPr/>
        </p:nvCxnSpPr>
        <p:spPr>
          <a:xfrm>
            <a:off x="1847088" y="3072384"/>
            <a:ext cx="1572768" cy="0"/>
          </a:xfrm>
          <a:prstGeom prst="bentConnector3">
            <a:avLst/>
          </a:prstGeom>
          <a:ln w="12700">
            <a:solidFill>
              <a:srgbClr val="757575"/>
            </a:solidFill>
            <a:tailEnd type="triangle" w="med" len="med"/>
          </a:ln>
        </p:spPr>
      </p:cxnSp>
      <p:cxnSp>
        <p:nvCxnSpPr>
          <p:cNvPr id="8" name="Connector 8" descr=""/>
          <p:cNvCxnSpPr>
            <a:stCxn id="4" idx="1"/>
            <a:endCxn id="5" idx="3"/>
          </p:cNvCxnSpPr>
          <p:nvPr/>
        </p:nvCxnSpPr>
        <p:spPr>
          <a:xfrm>
            <a:off x="5065776" y="3072384"/>
            <a:ext cx="914400" cy="0"/>
          </a:xfrm>
          <a:prstGeom prst="bentConnector3">
            <a:avLst/>
          </a:prstGeom>
          <a:ln w="12700">
            <a:solidFill>
              <a:srgbClr val="757575"/>
            </a:solidFill>
            <a:tailEnd type="triangle" w="med" len="med"/>
          </a:ln>
        </p:spPr>
      </p:cxnSp>
      <p:cxnSp>
        <p:nvCxnSpPr>
          <p:cNvPr id="9" name="Connector 9" descr=""/>
          <p:cNvCxnSpPr>
            <a:stCxn id="5" idx="3"/>
            <a:endCxn id="6" idx="1"/>
          </p:cNvCxnSpPr>
          <p:nvPr/>
        </p:nvCxnSpPr>
        <p:spPr>
          <a:xfrm flipH="1">
            <a:off x="1847088" y="3072384"/>
            <a:ext cx="4133088" cy="1645920"/>
          </a:xfrm>
          <a:prstGeom prst="bentConnector3">
            <a:avLst/>
          </a:prstGeom>
          <a:ln w="12700">
            <a:solidFill>
              <a:srgbClr val="757575"/>
            </a:solidFill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ER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2194560" y="3246120"/>
            <a:ext cx="2011680" cy="45720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2194560" y="370332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</a:ln>
        </p:spPr>
        <p:txBody>
          <a:bodyPr wrap="square" rtlCol="0" anchor="t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400" b="0" i="0" u="none" dirty="0">
                <a:solidFill>
                  <a:srgbClr val="000000"/>
                </a:solidFill>
              </a:rPr>
              <a:t>string name
string email</a:t>
            </a:r>
          </a:p>
        </p:txBody>
      </p:sp>
      <p:sp>
        <p:nvSpPr>
          <p:cNvPr id="5" name="Shape 5" descr=""/>
          <p:cNvSpPr/>
          <p:nvPr/>
        </p:nvSpPr>
        <p:spPr>
          <a:xfrm>
            <a:off x="4937760" y="3246120"/>
            <a:ext cx="2011680" cy="45720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ORDER</a:t>
            </a:r>
          </a:p>
        </p:txBody>
      </p:sp>
      <p:sp>
        <p:nvSpPr>
          <p:cNvPr id="6" name="Shape 6" descr=""/>
          <p:cNvSpPr/>
          <p:nvPr/>
        </p:nvSpPr>
        <p:spPr>
          <a:xfrm>
            <a:off x="4937760" y="370332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</a:ln>
        </p:spPr>
        <p:txBody>
          <a:bodyPr wrap="square" rtlCol="0" anchor="t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int orderNumber</a:t>
            </a:r>
          </a:p>
        </p:txBody>
      </p:sp>
      <p:sp>
        <p:nvSpPr>
          <p:cNvPr id="7" name="Shape 7" descr=""/>
          <p:cNvSpPr/>
          <p:nvPr/>
        </p:nvSpPr>
        <p:spPr>
          <a:xfrm>
            <a:off x="4114800" y="3291840"/>
            <a:ext cx="914400" cy="36576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 lIns="45720" tIns="18288" rIns="45720" bIns="18288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places</a:t>
            </a:r>
          </a:p>
        </p:txBody>
      </p:sp>
      <p:cxnSp>
        <p:nvCxnSpPr>
          <p:cNvPr id="8" name="Connector 8" descr=""/>
          <p:cNvCxnSpPr>
            <a:stCxn id="3" idx="0"/>
            <a:endCxn id="5" idx="2"/>
          </p:cNvCxnSpPr>
          <p:nvPr/>
        </p:nvCxnSpPr>
        <p:spPr>
          <a:xfrm>
            <a:off x="3200400" y="3246120"/>
            <a:ext cx="2743200" cy="457200"/>
          </a:xfrm>
          <a:prstGeom prst="bentConnector3">
            <a:avLst/>
          </a:prstGeom>
          <a:ln w="12700">
            <a:solidFill>
              <a:srgbClr val="757575"/>
            </a:solidFill>
            <a:tailEnd type="stealth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Mindmap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4046706" y="3637172"/>
            <a:ext cx="1050587" cy="315176"/>
          </a:xfrm>
          <a:prstGeom prst="ellipse">
            <a:avLst/>
          </a:prstGeom>
          <a:solidFill>
            <a:srgbClr val="9370DB"/>
          </a:solidFill>
          <a:ln w="6350">
            <a:solidFill>
              <a:srgbClr val="ECECFF"/>
            </a:solidFill>
          </a:ln>
        </p:spPr>
        <p:txBody>
          <a:bodyPr wrap="square" rtlCol="0" anchor="ctr" lIns="43774" tIns="21887" rIns="43774" bIns="21887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mindmap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5359940" y="3637172"/>
            <a:ext cx="1050587" cy="315176"/>
          </a:xfrm>
          <a:prstGeom prst="rect">
            <a:avLst/>
          </a:prstGeom>
          <a:solidFill>
            <a:srgbClr val="F4F4F4"/>
          </a:solidFill>
          <a:ln w="6350">
            <a:solidFill>
              <a:srgbClr val="757575"/>
            </a:solidFill>
          </a:ln>
        </p:spPr>
        <p:txBody>
          <a:bodyPr wrap="square" rtlCol="0" anchor="ctr" lIns="43774" tIns="21887" rIns="43774" bIns="21887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Origins</a:t>
            </a:r>
          </a:p>
        </p:txBody>
      </p:sp>
      <p:sp>
        <p:nvSpPr>
          <p:cNvPr id="5" name="Shape 5" descr=""/>
          <p:cNvSpPr/>
          <p:nvPr/>
        </p:nvSpPr>
        <p:spPr>
          <a:xfrm>
            <a:off x="7636213" y="3637172"/>
            <a:ext cx="1050587" cy="315176"/>
          </a:xfrm>
          <a:prstGeom prst="rect">
            <a:avLst/>
          </a:prstGeom>
          <a:solidFill>
            <a:srgbClr val="ECECFF"/>
          </a:solidFill>
          <a:ln w="6350">
            <a:solidFill>
              <a:srgbClr val="9370DB"/>
            </a:solidFill>
          </a:ln>
        </p:spPr>
        <p:txBody>
          <a:bodyPr wrap="square" rtlCol="0" anchor="ctr" lIns="43774" tIns="21887" rIns="43774" bIns="21887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Long history</a:t>
            </a:r>
          </a:p>
        </p:txBody>
      </p:sp>
      <p:sp>
        <p:nvSpPr>
          <p:cNvPr id="6" name="Shape 6" descr=""/>
          <p:cNvSpPr/>
          <p:nvPr/>
        </p:nvSpPr>
        <p:spPr>
          <a:xfrm>
            <a:off x="2733472" y="3637172"/>
            <a:ext cx="1050587" cy="315176"/>
          </a:xfrm>
          <a:prstGeom prst="rect">
            <a:avLst/>
          </a:prstGeom>
          <a:solidFill>
            <a:srgbClr val="F4F4F4"/>
          </a:solidFill>
          <a:ln w="6350">
            <a:solidFill>
              <a:srgbClr val="757575"/>
            </a:solidFill>
          </a:ln>
        </p:spPr>
        <p:txBody>
          <a:bodyPr wrap="square" rtlCol="0" anchor="ctr" lIns="43774" tIns="21887" rIns="43774" bIns="21887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Research</a:t>
            </a:r>
          </a:p>
        </p:txBody>
      </p:sp>
      <p:sp>
        <p:nvSpPr>
          <p:cNvPr id="7" name="Shape 7" descr=""/>
          <p:cNvSpPr/>
          <p:nvPr/>
        </p:nvSpPr>
        <p:spPr>
          <a:xfrm>
            <a:off x="457200" y="3637172"/>
            <a:ext cx="1050587" cy="315176"/>
          </a:xfrm>
          <a:prstGeom prst="rect">
            <a:avLst/>
          </a:prstGeom>
          <a:solidFill>
            <a:srgbClr val="ECECFF"/>
          </a:solidFill>
          <a:ln w="6350">
            <a:solidFill>
              <a:srgbClr val="9370DB"/>
            </a:solidFill>
          </a:ln>
        </p:spPr>
        <p:txBody>
          <a:bodyPr wrap="square" rtlCol="0" anchor="ctr" lIns="43774" tIns="21887" rIns="43774" bIns="21887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On effectiveness</a:t>
            </a:r>
          </a:p>
        </p:txBody>
      </p:sp>
      <p:cxnSp>
        <p:nvCxnSpPr>
          <p:cNvPr id="8" name="Connector 8" descr=""/>
          <p:cNvCxnSpPr/>
          <p:nvPr/>
        </p:nvCxnSpPr>
        <p:spPr>
          <a:xfrm>
            <a:off x="5097294" y="3794760"/>
            <a:ext cx="262646" cy="0"/>
          </a:xfrm>
          <a:prstGeom prst="straightConnector1">
            <a:avLst/>
          </a:prstGeom>
          <a:ln w="6350">
            <a:solidFill>
              <a:srgbClr val="757575"/>
            </a:solidFill>
          </a:ln>
        </p:spPr>
      </p:cxnSp>
      <p:cxnSp>
        <p:nvCxnSpPr>
          <p:cNvPr id="9" name="Connector 9" descr=""/>
          <p:cNvCxnSpPr/>
          <p:nvPr/>
        </p:nvCxnSpPr>
        <p:spPr>
          <a:xfrm>
            <a:off x="6410528" y="3794760"/>
            <a:ext cx="1225685" cy="0"/>
          </a:xfrm>
          <a:prstGeom prst="straightConnector1">
            <a:avLst/>
          </a:prstGeom>
          <a:ln w="6350">
            <a:solidFill>
              <a:srgbClr val="757575"/>
            </a:solidFill>
          </a:ln>
        </p:spPr>
      </p:cxnSp>
      <p:cxnSp>
        <p:nvCxnSpPr>
          <p:cNvPr id="10" name="Connector 10" descr=""/>
          <p:cNvCxnSpPr/>
          <p:nvPr/>
        </p:nvCxnSpPr>
        <p:spPr>
          <a:xfrm flipH="1">
            <a:off x="3784060" y="3794760"/>
            <a:ext cx="262646" cy="0"/>
          </a:xfrm>
          <a:prstGeom prst="straightConnector1">
            <a:avLst/>
          </a:prstGeom>
          <a:ln w="6350">
            <a:solidFill>
              <a:srgbClr val="757575"/>
            </a:solidFill>
          </a:ln>
        </p:spPr>
      </p:cxnSp>
      <p:cxnSp>
        <p:nvCxnSpPr>
          <p:cNvPr id="11" name="Connector 11" descr=""/>
          <p:cNvCxnSpPr/>
          <p:nvPr/>
        </p:nvCxnSpPr>
        <p:spPr>
          <a:xfrm flipH="1">
            <a:off x="1507787" y="3794760"/>
            <a:ext cx="1225685" cy="0"/>
          </a:xfrm>
          <a:prstGeom prst="straightConnector1">
            <a:avLst/>
          </a:prstGeom>
          <a:ln w="6350">
            <a:solidFill>
              <a:srgbClr val="757575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Journey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757575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200" b="0" i="0" u="none" dirty="0">
                <a:solidFill>
                  <a:srgbClr val="000000"/>
                </a:solidFill>
              </a:rPr>
              <a:t>My working day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457200" y="1371600"/>
            <a:ext cx="214884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757575"/>
            </a:solidFill>
          </a:ln>
        </p:spPr>
        <p:txBody>
          <a:bodyPr wrap="square" rtlCol="0" anchor="ctr" lIns="91440" tIns="45720" rIns="9144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Go to work</a:t>
            </a:r>
          </a:p>
        </p:txBody>
      </p:sp>
      <p:sp>
        <p:nvSpPr>
          <p:cNvPr id="5" name="Shape 5" descr=""/>
          <p:cNvSpPr/>
          <p:nvPr/>
        </p:nvSpPr>
        <p:spPr>
          <a:xfrm>
            <a:off x="457200" y="2029968"/>
            <a:ext cx="2148840" cy="118872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t" lIns="73152" tIns="27432" rIns="73152" bIns="27432">
            <a:prstTxWarp prst="textNoShape">
              <a:avLst/>
            </a:prstTxWarp>
            <a:normAutofit/>
          </a:bodyPr>
          <a:lstStyle/>
          <a:p>
            <a:pPr algn="l"/>
            <a:r>
              <a:rPr lang="en-US" sz="2600" b="0" i="0" u="none" dirty="0">
                <a:solidFill>
                  <a:srgbClr val="000000"/>
                </a:solidFill>
              </a:rPr>
              <a:t>Make tea
Score: 5 Me</a:t>
            </a:r>
          </a:p>
        </p:txBody>
      </p:sp>
      <p:sp>
        <p:nvSpPr>
          <p:cNvPr id="6" name="Shape 6" descr=""/>
          <p:cNvSpPr/>
          <p:nvPr/>
        </p:nvSpPr>
        <p:spPr>
          <a:xfrm>
            <a:off x="457200" y="3419856"/>
            <a:ext cx="2148840" cy="118872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wrap="square" rtlCol="0" anchor="t" lIns="73152" tIns="27432" rIns="73152" bIns="27432">
            <a:prstTxWarp prst="textNoShape">
              <a:avLst/>
            </a:prstTxWarp>
            <a:normAutofit/>
          </a:bodyPr>
          <a:lstStyle/>
          <a:p>
            <a:pPr algn="l"/>
            <a:r>
              <a:rPr lang="en-US" sz="2600" b="0" i="0" u="none" dirty="0">
                <a:solidFill>
                  <a:srgbClr val="000000"/>
                </a:solidFill>
              </a:rPr>
              <a:t>Do work
Score: 1 Me, Cat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Mermaid: GitGraph</a:t>
            </a:r>
          </a:p>
        </p:txBody>
      </p:sp>
      <p:sp>
        <p:nvSpPr>
          <p:cNvPr id="3" name="Shape 3" descr=""/>
          <p:cNvSpPr/>
          <p:nvPr/>
        </p:nvSpPr>
        <p:spPr>
          <a:xfrm>
            <a:off x="3968496" y="3520440"/>
            <a:ext cx="2194560" cy="20000"/>
          </a:xfrm>
          <a:prstGeom prst="rect">
            <a:avLst/>
          </a:prstGeom>
          <a:solidFill>
            <a:srgbClr val="9370DB"/>
          </a:solidFill>
        </p:spPr>
        <p:txBody>
          <a:bodyPr/>
          <a:lstStyle/>
          <a:p/>
        </p:txBody>
      </p:sp>
      <p:sp>
        <p:nvSpPr>
          <p:cNvPr id="4" name="Shape 4" descr=""/>
          <p:cNvSpPr/>
          <p:nvPr/>
        </p:nvSpPr>
        <p:spPr>
          <a:xfrm>
            <a:off x="2999232" y="3383280"/>
            <a:ext cx="8778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57575"/>
            </a:solidFill>
          </a:ln>
        </p:spPr>
        <p:txBody>
          <a:bodyPr wrap="square" rtlCol="0" anchor="ctr" lIns="45720" tIns="45720" rIns="4572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main</a:t>
            </a:r>
          </a:p>
        </p:txBody>
      </p:sp>
      <p:sp>
        <p:nvSpPr>
          <p:cNvPr id="5" name="Shape 5" descr=""/>
          <p:cNvSpPr/>
          <p:nvPr/>
        </p:nvSpPr>
        <p:spPr>
          <a:xfrm>
            <a:off x="3968496" y="4069080"/>
            <a:ext cx="2194560" cy="200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6" name="Shape 6" descr=""/>
          <p:cNvSpPr/>
          <p:nvPr/>
        </p:nvSpPr>
        <p:spPr>
          <a:xfrm>
            <a:off x="2889504" y="3931920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57575"/>
            </a:solidFill>
          </a:ln>
        </p:spPr>
        <p:txBody>
          <a:bodyPr wrap="square" rtlCol="0" anchor="ctr" lIns="45720" tIns="45720" rIns="45720" bIns="45720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develop</a:t>
            </a:r>
          </a:p>
        </p:txBody>
      </p:sp>
      <p:sp>
        <p:nvSpPr>
          <p:cNvPr id="7" name="Shape 7" descr=""/>
          <p:cNvSpPr/>
          <p:nvPr/>
        </p:nvSpPr>
        <p:spPr>
          <a:xfrm>
            <a:off x="3877056" y="3429000"/>
            <a:ext cx="182880" cy="18288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" name="Shape 8" descr=""/>
          <p:cNvSpPr/>
          <p:nvPr/>
        </p:nvSpPr>
        <p:spPr>
          <a:xfrm>
            <a:off x="4608576" y="3429000"/>
            <a:ext cx="182880" cy="18288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" name="Shape 9" descr=""/>
          <p:cNvSpPr/>
          <p:nvPr/>
        </p:nvSpPr>
        <p:spPr>
          <a:xfrm>
            <a:off x="5340096" y="3977640"/>
            <a:ext cx="182880" cy="182880"/>
          </a:xfrm>
          <a:prstGeom prst="ellipse">
            <a:avLst/>
          </a:prstGeom>
          <a:solidFill>
            <a:srgbClr val="757575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" name="Shape 10" descr=""/>
          <p:cNvSpPr/>
          <p:nvPr/>
        </p:nvSpPr>
        <p:spPr>
          <a:xfrm>
            <a:off x="6071616" y="3429000"/>
            <a:ext cx="182880" cy="18288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cxnSp>
        <p:nvCxnSpPr>
          <p:cNvPr id="11" name="Connector 11" descr=""/>
          <p:cNvCxnSpPr/>
          <p:nvPr/>
        </p:nvCxnSpPr>
        <p:spPr>
          <a:xfrm>
            <a:off x="3968496" y="3520440"/>
            <a:ext cx="731520" cy="0"/>
          </a:xfrm>
          <a:prstGeom prst="straightConnector1">
            <a:avLst/>
          </a:prstGeom>
          <a:ln w="12700">
            <a:solidFill>
              <a:srgbClr val="9370DB"/>
            </a:solidFill>
          </a:ln>
        </p:spPr>
      </p:cxnSp>
      <p:cxnSp>
        <p:nvCxnSpPr>
          <p:cNvPr id="12" name="Connector 12" descr=""/>
          <p:cNvCxnSpPr/>
          <p:nvPr/>
        </p:nvCxnSpPr>
        <p:spPr>
          <a:xfrm>
            <a:off x="4700016" y="3520440"/>
            <a:ext cx="1463040" cy="0"/>
          </a:xfrm>
          <a:prstGeom prst="straightConnector1">
            <a:avLst/>
          </a:prstGeom>
          <a:ln w="12700">
            <a:solidFill>
              <a:srgbClr val="9370DB"/>
            </a:solidFill>
          </a:ln>
        </p:spPr>
      </p:cxnSp>
      <p:cxnSp>
        <p:nvCxnSpPr>
          <p:cNvPr id="13" name="Connector 13" descr=""/>
          <p:cNvCxnSpPr/>
          <p:nvPr/>
        </p:nvCxnSpPr>
        <p:spPr>
          <a:xfrm flipV="1">
            <a:off x="5431536" y="3520440"/>
            <a:ext cx="731520" cy="548640"/>
          </a:xfrm>
          <a:prstGeom prst="straightConnector1">
            <a:avLst/>
          </a:prstGeom>
          <a:ln w="12700">
            <a:solidFill>
              <a:srgbClr val="757575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Verification Checklist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None/>
            </a:pPr>
            <a:r>
              <a:rPr lang="en-US" sz="1300" b="1" i="0" u="none" dirty="0">
                <a:solidFill>
                  <a:srgbClr val="1F4E78"/>
                </a:solidFill>
              </a:rPr>
              <a:t>[GO]</a:t>
            </a:r>
          </a:p>
          <a:p>
            <a:pPr lvl="0" marL="457200" indent="-457200">
              <a:buNone/>
            </a:pP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slides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,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err</a:t>
            </a:r>
            <a:r>
              <a:rPr lang="en-US" sz="1400" b="0" i="0" u="none" dirty="0">
                <a:solidFill>
                  <a:srgbClr val="719E07"/>
                </a:solidFill>
                <a:latin typeface="Consolas"/>
              </a:rPr>
              <a:t>:=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pptx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.</a:t>
            </a:r>
            <a:r>
              <a:rPr lang="en-US" sz="1400" b="0" i="0" u="none" dirty="0">
                <a:solidFill>
                  <a:srgbClr val="268BD2"/>
                </a:solidFill>
                <a:latin typeface="Consolas"/>
              </a:rPr>
              <a:t>SlidesFromMarkdown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(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markdown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)</a:t>
            </a:r>
          </a:p>
          <a:p>
            <a:pPr lvl="0" marL="457200" indent="-457200">
              <a:buNone/>
            </a:pPr>
            <a:r>
              <a:rPr lang="en-US" sz="1400" b="0" i="0" u="none" dirty="0">
                <a:solidFill>
                  <a:srgbClr val="719E07"/>
                </a:solidFill>
                <a:latin typeface="Consolas"/>
              </a:rPr>
              <a:t>if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err</a:t>
            </a:r>
            <a:r>
              <a:rPr lang="en-US" sz="1400" b="0" i="0" u="none" dirty="0">
                <a:solidFill>
                  <a:srgbClr val="719E07"/>
                </a:solidFill>
                <a:latin typeface="Consolas"/>
              </a:rPr>
              <a:t>!=</a:t>
            </a:r>
            <a:r>
              <a:rPr lang="en-US" sz="1400" b="0" i="0" u="none" dirty="0">
                <a:solidFill>
                  <a:srgbClr val="CB4B16"/>
                </a:solidFill>
                <a:latin typeface="Consolas"/>
              </a:rPr>
              <a:t>nil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{</a:t>
            </a:r>
            <a:r>
              <a:rPr lang="en-US" sz="1400" b="0" i="0" u="none" dirty="0">
                <a:solidFill>
                  <a:srgbClr val="719E07"/>
                </a:solidFill>
                <a:latin typeface="Consolas"/>
              </a:rPr>
              <a:t>return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err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}</a:t>
            </a:r>
          </a:p>
          <a:p>
            <a:pPr lvl="0" marL="457200" indent="-457200">
              <a:buNone/>
            </a:pP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err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=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export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.</a:t>
            </a:r>
            <a:r>
              <a:rPr lang="en-US" sz="1400" b="0" i="0" u="none" dirty="0">
                <a:solidFill>
                  <a:srgbClr val="268BD2"/>
                </a:solidFill>
                <a:latin typeface="Consolas"/>
              </a:rPr>
              <a:t>PDFWithOptions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(</a:t>
            </a:r>
            <a:r>
              <a:rPr lang="en-US" sz="1400" b="0" i="0" u="none" dirty="0">
                <a:solidFill>
                  <a:srgbClr val="2AA198"/>
                </a:solidFill>
                <a:latin typeface="Consolas"/>
              </a:rPr>
              <a:t>"Deck"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,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slides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,</a:t>
            </a:r>
            <a:r>
              <a:rPr lang="en-US" sz="1400" b="0" i="0" u="none" dirty="0">
                <a:solidFill>
                  <a:srgbClr val="2AA198"/>
                </a:solidFill>
                <a:latin typeface="Consolas"/>
              </a:rPr>
              <a:t>"out.pdf"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,</a:t>
            </a:r>
          </a:p>
          <a:p>
            <a:pPr lvl="0" marL="457200" indent="-457200">
              <a:buNone/>
            </a:pP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export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.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PDFOptions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{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Driver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: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export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.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PDFDriverNative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}</a:t>
            </a:r>
            <a:r>
              <a:rPr lang="en-US" sz="1400" b="0" i="0" u="none" dirty="0">
                <a:solidFill>
                  <a:srgbClr val="93A1A1"/>
                </a:solidFill>
                <a:latin typeface="Consolas"/>
              </a:rPr>
              <a:t>)</a:t>
            </a:r>
          </a:p>
        </p:txBody>
      </p:sp>
      <p:graphicFrame>
        <p:nvGraphicFramePr>
          <p:cNvPr id="4" name="Table 1" descr=""/>
          <p:cNvGraphicFramePr>
            <a:graphicFrameLocks noGrp="1"/>
          </p:cNvGraphicFramePr>
          <p:nvPr/>
        </p:nvGraphicFramePr>
        <p:xfrm>
          <a:off x="457200" y="2743200"/>
          <a:ext cx="8230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5100"/>
                <a:gridCol w="4115100"/>
              </a:tblGrid>
              <a:tr h="800100">
                <a:tc>
                  <a:txBody>
                    <a:bodyPr/>
                    <a:lstStyle/>
                    <a:p>
                      <a:r>
                        <a:rPr lang="en-US" dirty="0" b="1"/>
                        <a:t>Step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 dirty="0"/>
                        <a:t>Markdown parsed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 dirty="0"/>
                        <a:t>PPTX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 dirty="0"/>
                        <a:t>Native PDF exported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C01 Markdown + Mermaid Deck</dc:title>
  <dc:creator>gopptx</dc:creator>
  <cp:lastModifiedBy>gopptx</cp:lastModifiedBy>
  <cp:revision>1</cp:revision>
  <dcterms:created xsi:type="dcterms:W3CDTF">2026-03-20T15:52:17Z</dcterms:created>
  <dcterms:modified xsi:type="dcterms:W3CDTF">2026-03-20T15:52:17Z</dcterms:modified>
</cp:coreProperties>
</file>