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3"/>
    <p:sldId id="258" r:id="rId4"/>
    <p:sldId id="259" r:id="rId5"/>
    <p:sldId id="260" r:id="rId6"/>
    <p:sldId id="261" r:id="rId7"/>
    <p:sldId id="262" r:id="rId8"/>
    <p:sldId id="263" r:id="rId9"/>
    <p:sldId id="264" r:id="rId10"/>
    <p:sldId id="265" r:id="rId11"/>
  </p:sldIdLst>
  <p:sldSz cx="9144000" cy="6858000" type="screen4x3"/>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theme" Target="theme/theme1.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 Id="rId10" Type="http://schemas.openxmlformats.org/officeDocument/2006/relationships/slide" Target="slides/slide8.xml"/>
<Relationship Id="rId11" Type="http://schemas.openxmlformats.org/officeDocument/2006/relationships/slide" Target="slides/slide9.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entered Title">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Big Content">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lumn">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4.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a="http://schemas.openxmlformats.org/drawingml/2006/main" xmlns:c="http://schemas.openxmlformats.org/drawingml/2006/chart" xmlns:r="http://schemas.openxmlformats.org/officeDocument/2006/relationships" xmlns:p="http://schemas.openxmlformats.org/presentationml/2006/main">
  <p:cSld>
    <p:spTree>
      <p:nvGrpSpPr>
        <p:cNvPr id="1" name=""/>
        <p:cNvGrpSpPr/>
        <p:nvPr/>
      </p:nvGrpSpPr>
      <p:grpSpPr>
        <a:xfrm>
          <a:off x="0" y="0"/>
          <a:ext cx="9144000" cy="6858000"/>
          <a:chOff x="0" y="0"/>
          <a:chExt cx="9144000" cy="6858000"/>
        </a:xfrm>
      </p:grpSpPr>
      <p:sp>
        <p:nvSpPr>
          <p:cNvPr id="2" name="Title"/>
          <p:cNvSpPr/>
          <p:nvPr>
            <p:ph type="title" idx="0"/>
          </p:nvPr>
        </p:nvSpPr>
        <p:spPr>
          <a:xfrm>
            <a:off x="457200" y="274638"/>
            <a:ext cx="8229600" cy="1143000"/>
          </a:xfrm>
          <a:prstGeom prst="rect">
            <a:avLst/>
          </a:prstGeom>
          <a:noFill/>
        </p:spPr>
        <p:txBody>
          <a:bodyPr wrap="square" rtlCol="0" anchor="ctr"/>
          <a:lstStyle/>
          <a:p>
            <a:pPr algn="l"/>
            <a:r>
              <a:rPr lang="en-US" sz="4400" b="0" i="0" u="none" dirty="0"/>
              <a:t>C02 URL Fetch to Slides</a:t>
            </a:r>
          </a:p>
        </p:txBody>
      </p:sp>
    </p:spTree>
  </p:cSld>
  <p:clrMapOvr>
    <a:masterClrMapping/>
  </p:clrMapOvr>
</p:sld>
</file>

<file path=ppt/slides/slide2.xml><?xml version="1.0" encoding="utf-8"?>
<p:sld xmlns:a="http://schemas.openxmlformats.org/drawingml/2006/main" xmlns:c="http://schemas.openxmlformats.org/drawingml/2006/chart" xmlns:r="http://schemas.openxmlformats.org/officeDocument/2006/relationships" xmlns:p="http://schemas.openxmlformats.org/presentationml/2006/main">
  <p:cSld>
    <p:spTree>
      <p:nvGrpSpPr>
        <p:cNvPr id="1" name=""/>
        <p:cNvGrpSpPr/>
        <p:nvPr/>
      </p:nvGrpSpPr>
      <p:grpSpPr>
        <a:xfrm>
          <a:off x="0" y="0"/>
          <a:ext cx="9144000" cy="6858000"/>
          <a:chOff x="0" y="0"/>
          <a:chExt cx="9144000" cy="6858000"/>
        </a:xfrm>
      </p:grpSpPr>
      <p:sp>
        <p:nvSpPr>
          <p:cNvPr id="2" name="Title"/>
          <p:cNvSpPr/>
          <p:nvPr>
            <p:ph type="title" idx="0"/>
          </p:nvPr>
        </p:nvSpPr>
        <p:spPr>
          <a:xfrm>
            <a:off x="457200" y="2743200"/>
            <a:ext cx="8229600" cy="1371600"/>
          </a:xfrm>
          <a:prstGeom prst="rect">
            <a:avLst/>
          </a:prstGeom>
          <a:noFill/>
        </p:spPr>
        <p:txBody>
          <a:bodyPr wrap="square" rtlCol="0" anchor="ctr"/>
          <a:lstStyle/>
          <a:p>
            <a:pPr algn="ctr"/>
            <a:r>
              <a:rPr lang="en-US" sz="4400" b="0" i="0" u="none" dirty="0"/>
              <a:t>RFC 9110: HTTP Semantics</a:t>
            </a:r>
          </a:p>
        </p:txBody>
      </p:sp>
    </p:spTree>
  </p:cSld>
  <p:clrMapOvr>
    <a:masterClrMapping/>
  </p:clrMapOvr>
</p:sld>
</file>

<file path=ppt/slides/slide3.xml><?xml version="1.0" encoding="utf-8"?>
<p:sld xmlns:a="http://schemas.openxmlformats.org/drawingml/2006/main" xmlns:c="http://schemas.openxmlformats.org/drawingml/2006/chart" xmlns:r="http://schemas.openxmlformats.org/officeDocument/2006/relationships" xmlns:p="http://schemas.openxmlformats.org/presentationml/2006/main">
  <p:cSld>
    <p:spTree>
      <p:nvGrpSpPr>
        <p:cNvPr id="1" name=""/>
        <p:cNvGrpSpPr/>
        <p:nvPr/>
      </p:nvGrpSpPr>
      <p:grpSpPr>
        <a:xfrm>
          <a:off x="0" y="0"/>
          <a:ext cx="9144000" cy="6858000"/>
          <a:chOff x="0" y="0"/>
          <a:chExt cx="9144000" cy="6858000"/>
        </a:xfrm>
      </p:grpSpPr>
      <p:sp>
        <p:nvSpPr>
          <p:cNvPr id="2" name="Title"/>
          <p:cNvSpPr/>
          <p:nvPr>
            <p:ph type="title" idx="0"/>
          </p:nvPr>
        </p:nvSpPr>
        <p:spPr>
          <a:xfrm>
            <a:off x="457200" y="274638"/>
            <a:ext cx="8229600" cy="1143000"/>
          </a:xfrm>
          <a:prstGeom prst="rect">
            <a:avLst/>
          </a:prstGeom>
          <a:noFill/>
        </p:spPr>
        <p:txBody>
          <a:bodyPr wrap="square" rtlCol="0" anchor="ctr"/>
          <a:lstStyle/>
          <a:p>
            <a:pPr algn="l"/>
            <a:r>
              <a:rPr lang="en-US" sz="4400" b="0" i="0" u="none" dirty="0"/>
              <a:t>6.4. Content</a:t>
            </a:r>
          </a:p>
        </p:txBody>
      </p:sp>
      <p:sp>
        <p:nvSpPr>
          <p:cNvPr id="3" name="Content"/>
          <p:cNvSpPr/>
          <p:nvPr>
            <p:ph type="body" idx="1"/>
          </p:nvPr>
        </p:nvSpPr>
        <p:spPr>
          <a:xfrm>
            <a:off x="457200" y="1600200"/>
            <a:ext cx="8229600" cy="4572000"/>
          </a:xfrm>
          <a:prstGeom prst="rect">
            <a:avLst/>
          </a:prstGeom>
          <a:noFill/>
        </p:spPr>
        <p:txBody>
          <a:bodyPr wrap="square" rtlCol="0" anchor="t"/>
          <a:lstStyle/>
          <a:p>
            <a:pPr lvl="0" marL="457200" indent="-457200">
              <a:buChar char="•"/>
            </a:pPr>
            <a:r>
              <a:rPr lang="en-US" sz="1800" b="0" i="0" u="none" dirty="0"/>
              <a:t>HTTP messages often transfer a complete or partial representation as the message "content": a stream of octets sent after the header section, as delineated by the message framing.¶</a:t>
            </a:r>
          </a:p>
          <a:p>
            <a:pPr lvl="0" marL="457200" indent="-457200">
              <a:buChar char="•"/>
            </a:pPr>
            <a:r>
              <a:rPr lang="en-US" sz="1800" b="0" i="0" u="none" dirty="0"/>
              <a:t>This abstract definition of content reflects the data after it has been extracted from the message framing. For example, an HTTP/1.1 message body (Section 6 of [HTTP/1.1]) might consist of a stream of</a:t>
            </a:r>
          </a:p>
          <a:p>
            <a:pPr lvl="0" marL="457200" indent="-457200">
              <a:buChar char="•"/>
            </a:pPr>
            <a:r>
              <a:rPr lang="en-US" sz="1800" b="0" i="0" u="none" dirty="0"/>
              <a:t>data encoded with the chunked transfer coding -- a sequence of data chunks, one zero-length chunk, and a trailer section -- whereas the content of that same message includes only the data stream after</a:t>
            </a:r>
          </a:p>
          <a:p>
            <a:pPr lvl="0" marL="457200" indent="-457200">
              <a:buChar char="•"/>
            </a:pPr>
            <a:r>
              <a:rPr lang="en-US" sz="1800" b="0" i="0" u="none" dirty="0"/>
              <a:t>the transfer coding has been decoded; it does not include the chunk lengths, chunked framing syntax, nor the trailer fields (Section 6.5).¶</a:t>
            </a:r>
          </a:p>
          <a:p>
            <a:pPr lvl="0" marL="457200" indent="-457200">
              <a:buChar char="•"/>
            </a:pPr>
            <a:r>
              <a:rPr lang="en-US" sz="1800" b="0" i="0" u="none" dirty="0"/>
              <a:t>Note: Some field names have a "Content-" prefix. This is an informal convention; while some of these fields refer to the content of the message, as defined above, others are scoped to the selected</a:t>
            </a:r>
          </a:p>
          <a:p>
            <a:pPr lvl="0" marL="457200" indent="-457200">
              <a:buChar char="•"/>
            </a:pPr>
            <a:r>
              <a:rPr lang="en-US" sz="1800" b="0" i="0" u="none" dirty="0"/>
              <a:t>representation (Section 3.2). See the individual field's definition to disambiguate.¶</a:t>
            </a:r>
          </a:p>
        </p:txBody>
      </p:sp>
    </p:spTree>
  </p:cSld>
  <p:clrMapOvr>
    <a:masterClrMapping/>
  </p:clrMapOvr>
</p:sld>
</file>

<file path=ppt/slides/slide4.xml><?xml version="1.0" encoding="utf-8"?>
<p:sld xmlns:a="http://schemas.openxmlformats.org/drawingml/2006/main" xmlns:c="http://schemas.openxmlformats.org/drawingml/2006/chart" xmlns:r="http://schemas.openxmlformats.org/officeDocument/2006/relationships" xmlns:p="http://schemas.openxmlformats.org/presentationml/2006/main">
  <p:cSld>
    <p:spTree>
      <p:nvGrpSpPr>
        <p:cNvPr id="1" name=""/>
        <p:cNvGrpSpPr/>
        <p:nvPr/>
      </p:nvGrpSpPr>
      <p:grpSpPr>
        <a:xfrm>
          <a:off x="0" y="0"/>
          <a:ext cx="9144000" cy="6858000"/>
          <a:chOff x="0" y="0"/>
          <a:chExt cx="9144000" cy="6858000"/>
        </a:xfrm>
      </p:grpSpPr>
      <p:sp>
        <p:nvSpPr>
          <p:cNvPr id="2" name="Title"/>
          <p:cNvSpPr/>
          <p:nvPr>
            <p:ph type="title" idx="0"/>
          </p:nvPr>
        </p:nvSpPr>
        <p:spPr>
          <a:xfrm>
            <a:off x="457200" y="274638"/>
            <a:ext cx="8229600" cy="1143000"/>
          </a:xfrm>
          <a:prstGeom prst="rect">
            <a:avLst/>
          </a:prstGeom>
          <a:noFill/>
        </p:spPr>
        <p:txBody>
          <a:bodyPr wrap="square" rtlCol="0" anchor="ctr"/>
          <a:lstStyle/>
          <a:p>
            <a:pPr algn="l"/>
            <a:r>
              <a:rPr lang="en-US" sz="4400" b="0" i="0" u="none" dirty="0"/>
              <a:t>6.4.1. Content Semantics</a:t>
            </a:r>
          </a:p>
        </p:txBody>
      </p:sp>
      <p:sp>
        <p:nvSpPr>
          <p:cNvPr id="3" name="Content"/>
          <p:cNvSpPr/>
          <p:nvPr>
            <p:ph type="body" idx="1"/>
          </p:nvPr>
        </p:nvSpPr>
        <p:spPr>
          <a:xfrm>
            <a:off x="457200" y="1600200"/>
            <a:ext cx="8229600" cy="4572000"/>
          </a:xfrm>
          <a:prstGeom prst="rect">
            <a:avLst/>
          </a:prstGeom>
          <a:noFill/>
        </p:spPr>
        <p:txBody>
          <a:bodyPr wrap="square" rtlCol="0" anchor="t"/>
          <a:lstStyle/>
          <a:p>
            <a:pPr lvl="0" marL="457200" indent="-457200">
              <a:buChar char="•"/>
            </a:pPr>
            <a:r>
              <a:rPr lang="en-US" sz="1800" b="0" i="0" u="none" dirty="0"/>
              <a:t>The purpose of content in a request is defined by the method semantics (Section 9).¶</a:t>
            </a:r>
          </a:p>
          <a:p>
            <a:pPr lvl="0" marL="457200" indent="-457200">
              <a:buChar char="•"/>
            </a:pPr>
            <a:r>
              <a:rPr lang="en-US" sz="1800" b="0" i="0" u="none" dirty="0"/>
              <a:t>For example, a representation in the content of a PUT request (Section 9.3.4) represents the desired state of the target resource after the request is successfully applied, whereas a representation in</a:t>
            </a:r>
          </a:p>
          <a:p>
            <a:pPr lvl="0" marL="457200" indent="-457200">
              <a:buChar char="•"/>
            </a:pPr>
            <a:r>
              <a:rPr lang="en-US" sz="1800" b="0" i="0" u="none" dirty="0"/>
              <a:t>the content of a POST request (Section 9.3.3) represents information to be processed by the target resource.¶</a:t>
            </a:r>
          </a:p>
          <a:p>
            <a:pPr lvl="0" marL="457200" indent="-457200">
              <a:buChar char="•"/>
            </a:pPr>
            <a:r>
              <a:rPr lang="en-US" sz="1800" b="0" i="0" u="none" dirty="0"/>
              <a:t>In a response, the content's purpose is defined by the request method, response status code (Section 15), and response fields describing that content. For example, the content of a 200 (OK) response</a:t>
            </a:r>
          </a:p>
          <a:p>
            <a:pPr lvl="0" marL="457200" indent="-457200">
              <a:buChar char="•"/>
            </a:pPr>
            <a:r>
              <a:rPr lang="en-US" sz="1800" b="0" i="0" u="none" dirty="0"/>
              <a:t>to GET (Section 9.3.1) represents the current state of the target resource, as observed at the time of the message origination date (Section 6.6.1), whereas the content of the same status code in a</a:t>
            </a:r>
          </a:p>
          <a:p>
            <a:pPr lvl="0" marL="457200" indent="-457200">
              <a:buChar char="•"/>
            </a:pPr>
            <a:r>
              <a:rPr lang="en-US" sz="1800" b="0" i="0" u="none" dirty="0"/>
              <a:t>response to POST might represent either the processing result or the new state of the target resource after applying the processing.¶</a:t>
            </a:r>
          </a:p>
        </p:txBody>
      </p:sp>
    </p:spTree>
  </p:cSld>
  <p:clrMapOvr>
    <a:masterClrMapping/>
  </p:clrMapOvr>
</p:sld>
</file>

<file path=ppt/slides/slide5.xml><?xml version="1.0" encoding="utf-8"?>
<p:sld xmlns:a="http://schemas.openxmlformats.org/drawingml/2006/main" xmlns:c="http://schemas.openxmlformats.org/drawingml/2006/chart" xmlns:r="http://schemas.openxmlformats.org/officeDocument/2006/relationships" xmlns:p="http://schemas.openxmlformats.org/presentationml/2006/main">
  <p:cSld>
    <p:spTree>
      <p:nvGrpSpPr>
        <p:cNvPr id="1" name=""/>
        <p:cNvGrpSpPr/>
        <p:nvPr/>
      </p:nvGrpSpPr>
      <p:grpSpPr>
        <a:xfrm>
          <a:off x="0" y="0"/>
          <a:ext cx="9144000" cy="6858000"/>
          <a:chOff x="0" y="0"/>
          <a:chExt cx="9144000" cy="6858000"/>
        </a:xfrm>
      </p:grpSpPr>
      <p:sp>
        <p:nvSpPr>
          <p:cNvPr id="2" name="Title"/>
          <p:cNvSpPr/>
          <p:nvPr>
            <p:ph type="title" idx="0"/>
          </p:nvPr>
        </p:nvSpPr>
        <p:spPr>
          <a:xfrm>
            <a:off x="457200" y="274638"/>
            <a:ext cx="8229600" cy="1143000"/>
          </a:xfrm>
          <a:prstGeom prst="rect">
            <a:avLst/>
          </a:prstGeom>
          <a:noFill/>
        </p:spPr>
        <p:txBody>
          <a:bodyPr wrap="square" rtlCol="0" anchor="ctr"/>
          <a:lstStyle/>
          <a:p>
            <a:pPr algn="l"/>
            <a:r>
              <a:rPr lang="en-US" sz="4400" b="0" i="0" u="none" dirty="0"/>
              <a:t>6.4.1. Content Semantics (cont.)</a:t>
            </a:r>
          </a:p>
        </p:txBody>
      </p:sp>
      <p:sp>
        <p:nvSpPr>
          <p:cNvPr id="3" name="Content"/>
          <p:cNvSpPr/>
          <p:nvPr>
            <p:ph type="body" idx="1"/>
          </p:nvPr>
        </p:nvSpPr>
        <p:spPr>
          <a:xfrm>
            <a:off x="457200" y="1600200"/>
            <a:ext cx="8229600" cy="4572000"/>
          </a:xfrm>
          <a:prstGeom prst="rect">
            <a:avLst/>
          </a:prstGeom>
          <a:noFill/>
        </p:spPr>
        <p:txBody>
          <a:bodyPr wrap="square" rtlCol="0" anchor="t"/>
          <a:lstStyle/>
          <a:p>
            <a:pPr lvl="0" marL="457200" indent="-457200">
              <a:buChar char="•"/>
            </a:pPr>
            <a:r>
              <a:rPr lang="en-US" sz="1800" b="0" i="0" u="none" dirty="0"/>
              <a:t>The content of a 206 (Partial Content) response to GET contains either a single part of the selected representation or a multipart message body containing multiple parts of that representation, as</a:t>
            </a:r>
          </a:p>
          <a:p>
            <a:pPr lvl="0" marL="457200" indent="-457200">
              <a:buChar char="•"/>
            </a:pPr>
            <a:r>
              <a:rPr lang="en-US" sz="1800" b="0" i="0" u="none" dirty="0"/>
              <a:t>described in Section 15.3.7.¶</a:t>
            </a:r>
          </a:p>
          <a:p>
            <a:pPr lvl="0" marL="457200" indent="-457200">
              <a:buChar char="•"/>
            </a:pPr>
            <a:r>
              <a:rPr lang="en-US" sz="1800" b="0" i="0" u="none" dirty="0"/>
              <a:t>Response messages with an error status code usually contain content that represents the error condition, such that the content describes the error state and what steps are suggested for resolving</a:t>
            </a:r>
          </a:p>
          <a:p>
            <a:pPr lvl="0" marL="457200" indent="-457200">
              <a:buChar char="•"/>
            </a:pPr>
            <a:r>
              <a:rPr lang="en-US" sz="1800" b="0" i="0" u="none" dirty="0"/>
              <a:t>it.¶</a:t>
            </a:r>
          </a:p>
          <a:p>
            <a:pPr lvl="0" marL="457200" indent="-457200">
              <a:buChar char="•"/>
            </a:pPr>
            <a:r>
              <a:rPr lang="en-US" sz="1800" b="0" i="0" u="none" dirty="0"/>
              <a:t>Responses to the HEAD request method (Section 9.3.2) never include content; the associated response header fields indicate only what their values would have been if the request method had been GET</a:t>
            </a:r>
          </a:p>
          <a:p>
            <a:pPr lvl="0" marL="457200" indent="-457200">
              <a:buChar char="•"/>
            </a:pPr>
            <a:r>
              <a:rPr lang="en-US" sz="1800" b="0" i="0" u="none" dirty="0"/>
              <a:t>(Section 9.3.1).¶</a:t>
            </a:r>
          </a:p>
        </p:txBody>
      </p:sp>
    </p:spTree>
  </p:cSld>
  <p:clrMapOvr>
    <a:masterClrMapping/>
  </p:clrMapOvr>
</p:sld>
</file>

<file path=ppt/slides/slide6.xml><?xml version="1.0" encoding="utf-8"?>
<p:sld xmlns:a="http://schemas.openxmlformats.org/drawingml/2006/main" xmlns:c="http://schemas.openxmlformats.org/drawingml/2006/chart" xmlns:r="http://schemas.openxmlformats.org/officeDocument/2006/relationships" xmlns:p="http://schemas.openxmlformats.org/presentationml/2006/main">
  <p:cSld>
    <p:spTree>
      <p:nvGrpSpPr>
        <p:cNvPr id="1" name=""/>
        <p:cNvGrpSpPr/>
        <p:nvPr/>
      </p:nvGrpSpPr>
      <p:grpSpPr>
        <a:xfrm>
          <a:off x="0" y="0"/>
          <a:ext cx="9144000" cy="6858000"/>
          <a:chOff x="0" y="0"/>
          <a:chExt cx="9144000" cy="6858000"/>
        </a:xfrm>
      </p:grpSpPr>
      <p:sp>
        <p:nvSpPr>
          <p:cNvPr id="2" name="Title"/>
          <p:cNvSpPr/>
          <p:nvPr>
            <p:ph type="title" idx="0"/>
          </p:nvPr>
        </p:nvSpPr>
        <p:spPr>
          <a:xfrm>
            <a:off x="457200" y="274638"/>
            <a:ext cx="8229600" cy="1143000"/>
          </a:xfrm>
          <a:prstGeom prst="rect">
            <a:avLst/>
          </a:prstGeom>
          <a:noFill/>
        </p:spPr>
        <p:txBody>
          <a:bodyPr wrap="square" rtlCol="0" anchor="ctr"/>
          <a:lstStyle/>
          <a:p>
            <a:pPr algn="l"/>
            <a:r>
              <a:rPr lang="en-US" sz="4400" b="0" i="0" u="none" dirty="0"/>
              <a:t>6.4.1. Content Semantics (cont.)</a:t>
            </a:r>
          </a:p>
        </p:txBody>
      </p:sp>
      <p:sp>
        <p:nvSpPr>
          <p:cNvPr id="3" name="Content"/>
          <p:cNvSpPr/>
          <p:nvPr>
            <p:ph type="body" idx="1"/>
          </p:nvPr>
        </p:nvSpPr>
        <p:spPr>
          <a:xfrm>
            <a:off x="457200" y="1600200"/>
            <a:ext cx="8229600" cy="4572000"/>
          </a:xfrm>
          <a:prstGeom prst="rect">
            <a:avLst/>
          </a:prstGeom>
          <a:noFill/>
        </p:spPr>
        <p:txBody>
          <a:bodyPr wrap="square" rtlCol="0" anchor="t"/>
          <a:lstStyle/>
          <a:p>
            <a:pPr lvl="0" marL="457200" indent="-457200">
              <a:buChar char="•"/>
            </a:pPr>
            <a:r>
              <a:rPr lang="en-US" sz="1800" b="0" i="0" u="none" dirty="0"/>
              <a:t>2xx (Successful) responses to a CONNECT request method (Section 9.3.6) switch the connection to tunnel mode instead of having content.¶</a:t>
            </a:r>
          </a:p>
          <a:p>
            <a:pPr lvl="0" marL="457200" indent="-457200">
              <a:buChar char="•"/>
            </a:pPr>
            <a:r>
              <a:rPr lang="en-US" sz="1800" b="0" i="0" u="none" dirty="0"/>
              <a:t>All 1xx (Informational), 204 (No Content), and 304 (Not Modified) responses do not include content.¶</a:t>
            </a:r>
          </a:p>
          <a:p>
            <a:pPr lvl="0" marL="457200" indent="-457200">
              <a:buChar char="•"/>
            </a:pPr>
            <a:r>
              <a:rPr lang="en-US" sz="1800" b="0" i="0" u="none" dirty="0"/>
              <a:t>All other responses do include content, although that content might be of zero length.¶</a:t>
            </a:r>
          </a:p>
        </p:txBody>
      </p:sp>
    </p:spTree>
  </p:cSld>
  <p:clrMapOvr>
    <a:masterClrMapping/>
  </p:clrMapOvr>
</p:sld>
</file>

<file path=ppt/slides/slide7.xml><?xml version="1.0" encoding="utf-8"?>
<p:sld xmlns:a="http://schemas.openxmlformats.org/drawingml/2006/main" xmlns:c="http://schemas.openxmlformats.org/drawingml/2006/chart" xmlns:r="http://schemas.openxmlformats.org/officeDocument/2006/relationships" xmlns:p="http://schemas.openxmlformats.org/presentationml/2006/main">
  <p:cSld>
    <p:spTree>
      <p:nvGrpSpPr>
        <p:cNvPr id="1" name=""/>
        <p:cNvGrpSpPr/>
        <p:nvPr/>
      </p:nvGrpSpPr>
      <p:grpSpPr>
        <a:xfrm>
          <a:off x="0" y="0"/>
          <a:ext cx="9144000" cy="6858000"/>
          <a:chOff x="0" y="0"/>
          <a:chExt cx="9144000" cy="6858000"/>
        </a:xfrm>
      </p:grpSpPr>
      <p:sp>
        <p:nvSpPr>
          <p:cNvPr id="2" name="Title"/>
          <p:cNvSpPr/>
          <p:nvPr>
            <p:ph type="title" idx="0"/>
          </p:nvPr>
        </p:nvSpPr>
        <p:spPr>
          <a:xfrm>
            <a:off x="457200" y="274638"/>
            <a:ext cx="8229600" cy="1143000"/>
          </a:xfrm>
          <a:prstGeom prst="rect">
            <a:avLst/>
          </a:prstGeom>
          <a:noFill/>
        </p:spPr>
        <p:txBody>
          <a:bodyPr wrap="square" rtlCol="0" anchor="ctr"/>
          <a:lstStyle/>
          <a:p>
            <a:pPr algn="l"/>
            <a:r>
              <a:rPr lang="en-US" sz="4400" b="0" i="0" u="none" dirty="0"/>
              <a:t>6.4.2. Identifying Content</a:t>
            </a:r>
          </a:p>
        </p:txBody>
      </p:sp>
      <p:sp>
        <p:nvSpPr>
          <p:cNvPr id="3" name="Content"/>
          <p:cNvSpPr/>
          <p:nvPr>
            <p:ph type="body" idx="1"/>
          </p:nvPr>
        </p:nvSpPr>
        <p:spPr>
          <a:xfrm>
            <a:off x="457200" y="1600200"/>
            <a:ext cx="8229600" cy="4572000"/>
          </a:xfrm>
          <a:prstGeom prst="rect">
            <a:avLst/>
          </a:prstGeom>
          <a:noFill/>
        </p:spPr>
        <p:txBody>
          <a:bodyPr wrap="square" rtlCol="0" anchor="t"/>
          <a:lstStyle/>
          <a:p>
            <a:pPr lvl="0" marL="457200" indent="-457200">
              <a:buChar char="•"/>
            </a:pPr>
            <a:r>
              <a:rPr lang="en-US" sz="1800" b="0" i="0" u="none" dirty="0"/>
              <a:t>When a complete or partial representation is transferred as message content, it is often desirable for the sender to supply, or the recipient to determine, an identifier for a resource corresponding</a:t>
            </a:r>
          </a:p>
          <a:p>
            <a:pPr lvl="0" marL="457200" indent="-457200">
              <a:buChar char="•"/>
            </a:pPr>
            <a:r>
              <a:rPr lang="en-US" sz="1800" b="0" i="0" u="none" dirty="0"/>
              <a:t>to that specific representation. For example, a client making a GET request on a resource for "the current weather report" might want an identifier specific to the content returned (e.g., "weather</a:t>
            </a:r>
          </a:p>
          <a:p>
            <a:pPr lvl="0" marL="457200" indent="-457200">
              <a:buChar char="•"/>
            </a:pPr>
            <a:r>
              <a:rPr lang="en-US" sz="1800" b="0" i="0" u="none" dirty="0"/>
              <a:t>report for Laguna Beach at 20210720T1711"). This can be useful for sharing or bookmarking content from resources that are expected to have changing representations over time.¶</a:t>
            </a:r>
          </a:p>
          <a:p>
            <a:pPr lvl="0" marL="457200" indent="-457200">
              <a:buChar char="•"/>
            </a:pPr>
            <a:r>
              <a:rPr lang="en-US" sz="1800" b="0" i="0" u="none" dirty="0"/>
              <a:t>For a request message:¶</a:t>
            </a:r>
          </a:p>
          <a:p>
            <a:pPr lvl="0" marL="457200" indent="-457200">
              <a:buChar char="•"/>
            </a:pPr>
            <a:r>
              <a:rPr lang="en-US" sz="1800" b="0" i="0" u="none" dirty="0"/>
              <a:t>• If the request has a Content-Location header field, then the sender asserts that the content is a representation of the resource identified by the Content-Location field value.</a:t>
            </a:r>
          </a:p>
          <a:p>
            <a:pPr lvl="0" marL="457200" indent="-457200">
              <a:buChar char="•"/>
            </a:pPr>
            <a:r>
              <a:rPr lang="en-US" sz="1800" b="0" i="0" u="none" dirty="0"/>
              <a:t>• However, such an assertion cannot be trusted unless it can be verified by other means (not defined by this specification). The information might still be useful for revision</a:t>
            </a:r>
          </a:p>
          <a:p>
            <a:pPr lvl="0" marL="457200" indent="-457200">
              <a:buChar char="•"/>
            </a:pPr>
            <a:r>
              <a:rPr lang="en-US" sz="1800" b="0" i="0" u="none" dirty="0"/>
              <a:t>• history links.¶</a:t>
            </a:r>
          </a:p>
        </p:txBody>
      </p:sp>
    </p:spTree>
  </p:cSld>
  <p:clrMapOvr>
    <a:masterClrMapping/>
  </p:clrMapOvr>
</p:sld>
</file>

<file path=ppt/slides/slide8.xml><?xml version="1.0" encoding="utf-8"?>
<p:sld xmlns:a="http://schemas.openxmlformats.org/drawingml/2006/main" xmlns:c="http://schemas.openxmlformats.org/drawingml/2006/chart" xmlns:r="http://schemas.openxmlformats.org/officeDocument/2006/relationships" xmlns:p="http://schemas.openxmlformats.org/presentationml/2006/main">
  <p:cSld>
    <p:spTree>
      <p:nvGrpSpPr>
        <p:cNvPr id="1" name=""/>
        <p:cNvGrpSpPr/>
        <p:nvPr/>
      </p:nvGrpSpPr>
      <p:grpSpPr>
        <a:xfrm>
          <a:off x="0" y="0"/>
          <a:ext cx="9144000" cy="6858000"/>
          <a:chOff x="0" y="0"/>
          <a:chExt cx="9144000" cy="6858000"/>
        </a:xfrm>
      </p:grpSpPr>
      <p:sp>
        <p:nvSpPr>
          <p:cNvPr id="2" name="Title"/>
          <p:cNvSpPr/>
          <p:nvPr>
            <p:ph type="title" idx="0"/>
          </p:nvPr>
        </p:nvSpPr>
        <p:spPr>
          <a:xfrm>
            <a:off x="457200" y="274638"/>
            <a:ext cx="8229600" cy="1143000"/>
          </a:xfrm>
          <a:prstGeom prst="rect">
            <a:avLst/>
          </a:prstGeom>
          <a:noFill/>
        </p:spPr>
        <p:txBody>
          <a:bodyPr wrap="square" rtlCol="0" anchor="ctr"/>
          <a:lstStyle/>
          <a:p>
            <a:pPr algn="l"/>
            <a:r>
              <a:rPr lang="en-US" sz="4400" b="0" i="0" u="none" dirty="0"/>
              <a:t>6.4.2. Identifying Content (cont.)</a:t>
            </a:r>
          </a:p>
        </p:txBody>
      </p:sp>
      <p:sp>
        <p:nvSpPr>
          <p:cNvPr id="3" name="Content"/>
          <p:cNvSpPr/>
          <p:nvPr>
            <p:ph type="body" idx="1"/>
          </p:nvPr>
        </p:nvSpPr>
        <p:spPr>
          <a:xfrm>
            <a:off x="457200" y="1600200"/>
            <a:ext cx="8229600" cy="4572000"/>
          </a:xfrm>
          <a:prstGeom prst="rect">
            <a:avLst/>
          </a:prstGeom>
          <a:noFill/>
        </p:spPr>
        <p:txBody>
          <a:bodyPr wrap="square" rtlCol="0" anchor="t"/>
          <a:lstStyle/>
          <a:p>
            <a:pPr lvl="0" marL="457200" indent="-457200">
              <a:buChar char="•"/>
            </a:pPr>
            <a:r>
              <a:rPr lang="en-US" sz="1800" b="0" i="0" u="none" dirty="0"/>
              <a:t>• Otherwise, the content is unidentified by HTTP, but a more specific identifier might be supplied within the content itself.¶</a:t>
            </a:r>
          </a:p>
          <a:p>
            <a:pPr lvl="0" marL="457200" indent="-457200">
              <a:buChar char="•"/>
            </a:pPr>
            <a:r>
              <a:rPr lang="en-US" sz="1800" b="0" i="0" u="none" dirty="0"/>
              <a:t>For a response message, the following rules are applied in order until a match is found:¶</a:t>
            </a:r>
          </a:p>
          <a:p>
            <a:pPr lvl="0" marL="457200" indent="-457200">
              <a:buChar char="•"/>
            </a:pPr>
            <a:r>
              <a:rPr lang="en-US" sz="1800" b="0" i="0" u="none" dirty="0"/>
              <a:t>• If the request method is HEAD or the response status code is 204 (No Content) or 304 (Not Modified), there is no content in the response.¶</a:t>
            </a:r>
          </a:p>
          <a:p>
            <a:pPr lvl="0" marL="457200" indent="-457200">
              <a:buChar char="•"/>
            </a:pPr>
            <a:r>
              <a:rPr lang="en-US" sz="1800" b="0" i="0" u="none" dirty="0"/>
              <a:t>• If the request method is GET and the response status code is 200 (OK), the content is a representation of the target resource (Section 7.1).¶</a:t>
            </a:r>
          </a:p>
          <a:p>
            <a:pPr lvl="0" marL="457200" indent="-457200">
              <a:buChar char="•"/>
            </a:pPr>
            <a:r>
              <a:rPr lang="en-US" sz="1800" b="0" i="0" u="none" dirty="0"/>
              <a:t>• If the request method is GET and the response status code is 203 (Non-Authoritative Information), the content is a potentially modified or enhanced representation of the target</a:t>
            </a:r>
          </a:p>
          <a:p>
            <a:pPr lvl="0" marL="457200" indent="-457200">
              <a:buChar char="•"/>
            </a:pPr>
            <a:r>
              <a:rPr lang="en-US" sz="1800" b="0" i="0" u="none" dirty="0"/>
              <a:t>• resource as provided by an intermediary.¶</a:t>
            </a:r>
          </a:p>
        </p:txBody>
      </p:sp>
    </p:spTree>
  </p:cSld>
  <p:clrMapOvr>
    <a:masterClrMapping/>
  </p:clrMapOvr>
</p:sld>
</file>

<file path=ppt/slides/slide9.xml><?xml version="1.0" encoding="utf-8"?>
<p:sld xmlns:a="http://schemas.openxmlformats.org/drawingml/2006/main" xmlns:c="http://schemas.openxmlformats.org/drawingml/2006/chart" xmlns:r="http://schemas.openxmlformats.org/officeDocument/2006/relationships" xmlns:p="http://schemas.openxmlformats.org/presentationml/2006/main">
  <p:cSld>
    <p:spTree>
      <p:nvGrpSpPr>
        <p:cNvPr id="1" name=""/>
        <p:cNvGrpSpPr/>
        <p:nvPr/>
      </p:nvGrpSpPr>
      <p:grpSpPr>
        <a:xfrm>
          <a:off x="0" y="0"/>
          <a:ext cx="9144000" cy="6858000"/>
          <a:chOff x="0" y="0"/>
          <a:chExt cx="9144000" cy="6858000"/>
        </a:xfrm>
      </p:grpSpPr>
      <p:sp>
        <p:nvSpPr>
          <p:cNvPr id="2" name="Title"/>
          <p:cNvSpPr/>
          <p:nvPr>
            <p:ph type="title" idx="0"/>
          </p:nvPr>
        </p:nvSpPr>
        <p:spPr>
          <a:xfrm>
            <a:off x="457200" y="274638"/>
            <a:ext cx="8229600" cy="1143000"/>
          </a:xfrm>
          <a:prstGeom prst="rect">
            <a:avLst/>
          </a:prstGeom>
          <a:noFill/>
        </p:spPr>
        <p:txBody>
          <a:bodyPr wrap="square" rtlCol="0" anchor="ctr"/>
          <a:lstStyle/>
          <a:p>
            <a:pPr algn="l"/>
            <a:r>
              <a:rPr lang="en-US" sz="4400" b="0" i="0" u="none" dirty="0"/>
              <a:t>6.4.2. Identifying Content (cont.)</a:t>
            </a:r>
          </a:p>
        </p:txBody>
      </p:sp>
      <p:sp>
        <p:nvSpPr>
          <p:cNvPr id="3" name="Content"/>
          <p:cNvSpPr/>
          <p:nvPr>
            <p:ph type="body" idx="1"/>
          </p:nvPr>
        </p:nvSpPr>
        <p:spPr>
          <a:xfrm>
            <a:off x="457200" y="1600200"/>
            <a:ext cx="8229600" cy="4572000"/>
          </a:xfrm>
          <a:prstGeom prst="rect">
            <a:avLst/>
          </a:prstGeom>
          <a:noFill/>
        </p:spPr>
        <p:txBody>
          <a:bodyPr wrap="square" rtlCol="0" anchor="t"/>
          <a:lstStyle/>
          <a:p>
            <a:pPr lvl="0" marL="457200" indent="-457200">
              <a:buChar char="•"/>
            </a:pPr>
            <a:r>
              <a:rPr lang="en-US" sz="1800" b="0" i="0" u="none" dirty="0"/>
              <a:t>• If the request method is GET and the response status code is 206 (Partial Content), the content is one or more parts of a representation of the target resource.¶</a:t>
            </a:r>
          </a:p>
          <a:p>
            <a:pPr lvl="0" marL="457200" indent="-457200">
              <a:buChar char="•"/>
            </a:pPr>
            <a:r>
              <a:rPr lang="en-US" sz="1800" b="0" i="0" u="none" dirty="0"/>
              <a:t>• If the response has a Content-Location header field and its field value is a reference to the same URI as the target URI, the content is a representation of the target resource.¶</a:t>
            </a:r>
          </a:p>
          <a:p>
            <a:pPr lvl="0" marL="457200" indent="-457200">
              <a:buChar char="•"/>
            </a:pPr>
            <a:r>
              <a:rPr lang="en-US" sz="1800" b="0" i="0" u="none" dirty="0"/>
              <a:t>• If the response has a Content-Location header field and its field value is a reference to a URI different from the target URI, then the sender asserts that the content is a</a:t>
            </a:r>
          </a:p>
          <a:p>
            <a:pPr lvl="0" marL="457200" indent="-457200">
              <a:buChar char="•"/>
            </a:pPr>
            <a:r>
              <a:rPr lang="en-US" sz="1800" b="0" i="0" u="none" dirty="0"/>
              <a:t>• representation of the resource identified by the Content-Location field value. However, such an assertion cannot be trusted unless it can be verified by other means (not defined by</a:t>
            </a:r>
          </a:p>
          <a:p>
            <a:pPr lvl="0" marL="457200" indent="-457200">
              <a:buChar char="•"/>
            </a:pPr>
            <a:r>
              <a:rPr lang="en-US" sz="1800" b="0" i="0" u="none" dirty="0"/>
              <a:t>• this specification).¶</a:t>
            </a:r>
          </a:p>
          <a:p>
            <a:pPr lvl="0" marL="457200" indent="-457200">
              <a:buChar char="•"/>
            </a:pPr>
            <a:r>
              <a:rPr lang="en-US" sz="1800" b="0" i="0" u="none" dirty="0"/>
              <a:t>• Otherwise, the content is unidentified by HTTP, but a more specific identifier might be supplied within the content itself.¶</a:t>
            </a:r>
          </a:p>
        </p:txBody>
      </p:sp>
    </p:spTree>
  </p:cSld>
  <p:clrMapOvr>
    <a:masterClrMapping/>
  </p:clrMapOvr>
</p:sld>
</file>

<file path=ppt/theme/theme1.xml><?xml version="1.0" encoding="utf-8"?>
<a:theme xmlns:a="http://schemas.openxmlformats.org/drawingml/2006/main" name="Office Theme marketing">
  <a:themeElements>
    <a:clrScheme name="Office color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fonts">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gopptx</Application>
  <PresentationFormat>On-screen Show (4:3)</PresentationFormat>
  <Paragraphs>0</Paragraphs>
  <Slides>1</Slides>
  <Notes>0</Notes>
  <HiddenSlides>0</HiddenSlides>
  <MMClips>0</MMClips>
  <ScaleCrop>false</ScaleCrop>
  <LinksUpToDate>false</LinksUpToDate>
  <SharedDoc>false</SharedDoc>
  <HyperlinksChanged>false</HyperlinksChanged>
  <AppVersion>1.0000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C02 URL Fetch to Slides</dc:title>
  <dc:creator>gopptx</dc:creator>
  <cp:lastModifiedBy>gopptx</cp:lastModifiedBy>
  <cp:revision>1</cp:revision>
  <dcterms:created xsi:type="dcterms:W3CDTF">2026-03-20T16:47:53Z</dcterms:created>
  <dcterms:modified xsi:type="dcterms:W3CDTF">2026-03-20T16:47:53Z</dcterms:modified>
</cp:coreProperties>
</file>