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 Parity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15.000000</c:v>
              </c:pt>
              <c:pt idx="2">
                <c:v>14.000000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Trend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11.000000</c:v>
              </c:pt>
              <c:pt idx="1">
                <c:v>14.000000</c:v>
              </c:pt>
              <c:pt idx="2">
                <c:v>16.000000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Obj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goppt Feature Showcase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Chart parity (13 variants)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Slide layouts (title/content, title-only, blank)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Table styling + deep border semantics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Markdown inline rich text and text-run formatting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Shapes/connectors with gradient fill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Run-Level 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dirty="0">
                <a:solidFill>
                  <a:srgbClr val="1F4E78"/>
                </a:solidFill>
              </a:rPr>
              <a:t>Color </a:t>
            </a:r>
            <a:r>
              <a:rPr lang="en-US" sz="2800" b="0" i="0" u="none" dirty="0">
                <a:latin typeface="Calibri"/>
              </a:rPr>
              <a:t>Custom Font </a:t>
            </a:r>
            <a:r>
              <a:rPr lang="en-US" sz="2000" b="0" i="0" u="none" dirty="0"/>
              <a:t>Sized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latin typeface="Consolas"/>
              </a:rPr>
              <a:t>Inline code style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 Styling + Borders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2400000"/>
                <a:gridCol w="2400000"/>
              </a:tblGrid>
              <a:tr h="1600200">
                <a:tc>
                  <a:txBody>
                    <a:bodyPr/>
                    <a:lstStyle/>
                    <a:p>
                      <a:r>
                        <a:rPr lang="en-US" dirty="0" b="1"/>
                        <a:t>Feature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State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Notes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160020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Per-side border</a:t>
                      </a:r>
                    </a:p>
                  </a:txBody>
                  <a:tcPr>
                    <a:lnL w="19050">
                      <a:solidFill>
                        <a:srgbClr val="AA0000"/>
                      </a:solidFill>
                      <a:prstDash val="dash"/>
                    </a:lnL>
                    <a:lnR w="19050">
                      <a:solidFill>
                        <a:srgbClr val="00AA00"/>
                      </a:solidFill>
                      <a:prstDash val="dot"/>
                    </a:lnR>
                    <a:lnT w="19050">
                      <a:solidFill>
                        <a:srgbClr val="0000AA"/>
                      </a:solidFill>
                      <a:prstDash val="lgDash"/>
                    </a:lnT>
                    <a:lnB w="19050">
                      <a:solidFill>
                        <a:srgbClr val="77777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XML emits only configured sides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Shape 2"/>
          <p:cNvSpPr/>
          <p:nvPr/>
        </p:nvSpPr>
        <p:spPr>
          <a:xfrm>
            <a:off x="822960" y="1645920"/>
            <a:ext cx="2377440" cy="1005840"/>
          </a:xfrm>
          <a:prstGeom prst="roundRect">
            <a:avLst/>
          </a:prstGeom>
          <a:solidFill>
            <a:srgbClr val="D9E1F2"/>
          </a:solidFill>
          <a:ln w="19050">
            <a:solidFill>
              <a:srgbClr val="5B9BD5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3" name="Shape 3"/>
          <p:cNvSpPr/>
          <p:nvPr/>
        </p:nvSpPr>
        <p:spPr>
          <a:xfrm>
            <a:off x="3749040" y="1463040"/>
            <a:ext cx="2560320" cy="1463040"/>
          </a:xfrm>
          <a:prstGeom prst="flowChartDecision">
            <a:avLst/>
          </a:prstGeom>
          <a:gradFill rotWithShape="1">
            <a:gsLst>
              <a:gs pos="0">
                <a:srgbClr val="4472C4"/>
              </a:gs>
              <a:gs pos="100000">
                <a:srgbClr val="8FB9E0">
                  <a:alpha val="80000"/>
                </a:srgbClr>
              </a:gs>
            </a:gsLst>
            <a:lin ang="2100000" scaled="1"/>
          </a:gradFill>
          <a:ln w="19050">
            <a:solidFill>
              <a:srgbClr val="1F4E78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Validate</a:t>
            </a:r>
          </a:p>
        </p:txBody>
      </p:sp>
      <p:cxnSp>
        <p:nvCxnSpPr>
          <p:cNvPr id="4" name="Connector 4"/>
          <p:cNvCxnSpPr>
            <a:stCxn id="2" idx="1"/>
            <a:endCxn id="3" idx="3"/>
          </p:cNvCxnSpPr>
          <p:nvPr/>
        </p:nvCxnSpPr>
        <p:spPr>
          <a:xfrm>
            <a:off x="3200400" y="2148840"/>
            <a:ext cx="548640" cy="0"/>
          </a:xfrm>
          <a:prstGeom prst="bentConnector3">
            <a:avLst/>
          </a:prstGeom>
          <a:ln w="13970">
            <a:solidFill>
              <a:srgbClr val="1F4E78"/>
            </a:solidFill>
            <a:prstDash val="dashDot"/>
            <a:tailEnd type="triangle" w="lg" len="lg"/>
          </a:ln>
        </p:spPr>
        <p:txBody>
          <a:bodyPr/>
          <a:lstStyle/>
          <a:p>
            <a:r>
              <a:rPr lang="en-US" sz="1000" b="0" i="0" u="none" dirty="0"/>
              <a:t>next</a:t>
            </a:r>
          </a:p>
        </p:txBody>
      </p:cxnSp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Chart Sample (Combo)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Plain bullet</a:t>
            </a:r>
          </a:p>
          <a:p>
            <a:pPr lvl="0" marL="457200" indent="-457200">
              <a:buChar char="•"/>
            </a:pPr>
            <a:r>
              <a:rPr lang="en-US" sz="2800" b="1" i="0" u="none" dirty="0"/>
              <a:t>Bold</a:t>
            </a:r>
            <a:r>
              <a:rPr lang="en-US" sz="2800" b="0" i="0" u="none" dirty="0"/>
              <a:t> + </a:t>
            </a:r>
            <a:r>
              <a:rPr lang="en-US" sz="2800" b="0" i="1" u="none" dirty="0"/>
              <a:t>italic</a:t>
            </a:r>
            <a:r>
              <a:rPr lang="en-US" sz="2800" b="0" i="0" u="none" dirty="0"/>
              <a:t> + </a:t>
            </a:r>
            <a:r>
              <a:rPr lang="en-US" sz="2800" b="0" i="0" u="none" dirty="0"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 2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Another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9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 Feature Showcase</dc:title>
  <dc:creator>goppt</dc:creator>
  <cp:lastModifiedBy>goppt</cp:lastModifiedBy>
  <cp:revision>1</cp:revision>
  <dcterms:created xsi:type="dcterms:W3CDTF">2026-02-07T15:59:11Z</dcterms:created>
  <dcterms:modified xsi:type="dcterms:W3CDTF">2026-02-07T15:59:11Z</dcterms:modified>
</cp:coreProperties>
</file>