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Relationship Id="rId4" Type="http://schemas.openxmlformats.org/officeDocument/2006/relationships/slide" Target="slides/slide2.xml"/>
<Relationship Id="rId5" Type="http://schemas.openxmlformats.org/officeDocument/2006/relationships/slide" Target="slides/slide3.xml"/>
<Relationship Id="rId6" Type="http://schemas.openxmlformats.org/officeDocument/2006/relationships/slide" Target="slides/slide4.xml"/>
<Relationship Id="rId7" Type="http://schemas.openxmlformats.org/officeDocument/2006/relationships/slide" Target="slides/slide5.xml"/>
<Relationship Id="rId8" Type="http://schemas.openxmlformats.org/officeDocument/2006/relationships/slide" Target="slides/slide6.xml"/>
<Relationship Id="rId9" Type="http://schemas.openxmlformats.org/officeDocument/2006/relationships/slide" Target="slides/slide7.xml"/>
<Relationship Id="rId10" Type="http://schemas.openxmlformats.org/officeDocument/2006/relationships/slide" Target="slides/slide8.xml"/>
<Relationship Id="rId11" Type="http://schemas.openxmlformats.org/officeDocument/2006/relationships/slide" Target="slides/slide9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tx>
        <c:rich>
          <a:bodyPr/>
          <a:lstStyle/>
          <a:p>
            <a:r>
              <a:rPr lang="en-US"/>
              <a:t>Combo Parity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ser>
          <c:idx val="0"/>
          <c:order val="0"/>
          <c:tx>
            <c:v>Revenue</c:v>
          </c:tx>
          <c:cat>
            <c:strLit>
              <c:ptCount val="3"/>
              <c:pt idx="0">
                <c:v>Q1</c:v>
              </c:pt>
              <c:pt idx="1">
                <c:v>Q2</c:v>
              </c:pt>
              <c:pt idx="2">
                <c:v>Q3</c:v>
              </c:pt>
            </c:strLit>
          </c:cat>
          <c:val>
            <c:numLit>
              <c:formatCode>General</c:formatCode>
              <c:ptCount val="3"/>
              <c:pt idx="0">
                <c:v>12.000000</c:v>
              </c:pt>
              <c:pt idx="1">
                <c:v>15.000000</c:v>
              </c:pt>
              <c:pt idx="2">
                <c:v>14.000000</c:v>
              </c:pt>
            </c:numLit>
          </c:val>
        </c:ser>
        <c:axId val="48650112"/>
        <c:axId val="48672768"/>
      </c:barChart>
      <c:lineChart>
        <c:grouping val="standard"/>
        <c:ser>
          <c:idx val="1"/>
          <c:order val="1"/>
          <c:tx>
            <c:v>Trend</c:v>
          </c:tx>
          <c:cat>
            <c:strLit>
              <c:ptCount val="3"/>
              <c:pt idx="0">
                <c:v>Q1</c:v>
              </c:pt>
              <c:pt idx="1">
                <c:v>Q2</c:v>
              </c:pt>
              <c:pt idx="2">
                <c:v>Q3</c:v>
              </c:pt>
            </c:strLit>
          </c:cat>
          <c:val>
            <c:numLit>
              <c:formatCode>General</c:formatCode>
              <c:ptCount val="3"/>
              <c:pt idx="0">
                <c:v>11.000000</c:v>
              </c:pt>
              <c:pt idx="1">
                <c:v>14.000000</c:v>
              </c:pt>
              <c:pt idx="2">
                <c:v>16.000000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ckLblPos val="nextTo"/>
        <c:crossAx val="48672768"/>
        <c:crosses val="autoZero"/>
        <c:auto val="1"/>
        <c:lblAlgn val="ctr"/>
        <c:lblOffset val="100"/>
      </c:catAx>
      <c:valAx>
        <c:axId val="48672768"/>
        <c:scaling>
          <c:orientation val="minMax"/>
        </c:scaling>
        <c:delete val="0"/>
        <c:axPos val="l"/>
        <c:numFmt formatCode="General" sourceLinked="1"/>
        <c:majorGridlines/>
        <c:tickLblPos val="nextTo"/>
        <c:crossAx val="48650112"/>
        <c:crosses val="autoZero"/>
        <c:crossBetween val="between"/>
      </c:valAx>
    </c:plotArea>
    <c:legend>
      <c:legendPos val="r"/>
      <c:overlay val="0"/>
    </c:legend>
    <c:plotVisOnly val="1"/>
  </c:chart>
</c:chartSpace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3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3.xml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chart" Target="../charts/chart1.xml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goppt Feature Showcase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Char char="•"/>
            </a:pPr>
            <a:r>
              <a:rPr lang="en-US" sz="2800" b="0" i="0" dirty="0"/>
              <a:t>Chart parity (13 variants)</a:t>
            </a:r>
          </a:p>
          <a:p>
            <a:pPr lvl="0" marL="457200" indent="-457200">
              <a:buChar char="•"/>
            </a:pPr>
            <a:r>
              <a:rPr lang="en-US" sz="2800" b="0" i="0" dirty="0"/>
              <a:t>Slide layouts (title/content, title-only, blank)</a:t>
            </a:r>
          </a:p>
          <a:p>
            <a:pPr lvl="0" marL="457200" indent="-457200">
              <a:buChar char="•"/>
            </a:pPr>
            <a:r>
              <a:rPr lang="en-US" sz="2800" b="0" i="0" dirty="0"/>
              <a:t>Table styling + deep border semantics</a:t>
            </a:r>
          </a:p>
          <a:p>
            <a:pPr lvl="0" marL="457200" indent="-457200">
              <a:buChar char="•"/>
            </a:pPr>
            <a:r>
              <a:rPr lang="en-US" sz="2800" b="0" i="0" dirty="0"/>
              <a:t>Markdown inline rich text and text-run formatting</a:t>
            </a:r>
          </a:p>
          <a:p>
            <a:pPr lvl="0" marL="457200" indent="-457200">
              <a:buChar char="•"/>
            </a:pPr>
            <a:r>
              <a:rPr lang="en-US" sz="2800" b="0" i="0" dirty="0"/>
              <a:t>Shapes/connectors with gradient fill rendering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Title Only Layout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Run-Level Text Formatting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Char char="•"/>
            </a:pPr>
            <a:r>
              <a:rPr lang="en-US" sz="2800" b="1" i="0" u="none" dirty="0"/>
              <a:t>Bold </a:t>
            </a:r>
            <a:r>
              <a:rPr lang="en-US" sz="2800" b="0" i="1" u="none" dirty="0"/>
              <a:t>Italic </a:t>
            </a:r>
            <a:r>
              <a:rPr lang="en-US" sz="2800" b="0" i="0" u="sng" dirty="0"/>
              <a:t>Underline </a:t>
            </a:r>
            <a:r>
              <a:rPr lang="en-US" sz="2800" b="0" i="0" u="none" dirty="0">
                <a:solidFill>
                  <a:srgbClr val="1F4E78"/>
                </a:solidFill>
              </a:rPr>
              <a:t>Color </a:t>
            </a:r>
            <a:r>
              <a:rPr lang="en-US" sz="2800" b="0" i="0" u="none" dirty="0">
                <a:latin typeface="Calibri"/>
              </a:rPr>
              <a:t>Custom Font </a:t>
            </a:r>
            <a:r>
              <a:rPr lang="en-US" sz="2000" b="0" i="0" u="none" dirty="0"/>
              <a:t>Sized</a:t>
            </a:r>
          </a:p>
          <a:p>
            <a:pPr lvl="0" marL="457200" indent="-457200">
              <a:buChar char="•"/>
            </a:pPr>
            <a:r>
              <a:rPr lang="en-US" sz="2800" b="0" i="0" u="none" dirty="0">
                <a:latin typeface="Consolas"/>
              </a:rPr>
              <a:t>Inline code style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Table Styling + Borders</a:t>
            </a:r>
          </a:p>
        </p:txBody>
      </p:sp>
      <p:graphicFrame>
        <p:nvGraphicFramePr>
          <p:cNvPr id="3" name="Table 1"/>
          <p:cNvGraphicFramePr>
            <a:graphicFrameLocks noGrp="1"/>
          </p:cNvGraphicFramePr>
          <p:nvPr/>
        </p:nvGraphicFramePr>
        <p:xfrm>
          <a:off x="457200" y="1600200"/>
          <a:ext cx="8230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000"/>
                <a:gridCol w="2400000"/>
                <a:gridCol w="2400000"/>
              </a:tblGrid>
              <a:tr h="1600200">
                <a:tc>
                  <a:txBody>
                    <a:bodyPr/>
                    <a:lstStyle/>
                    <a:p>
                      <a:r>
                        <a:rPr lang="en-US" dirty="0" b="1"/>
                        <a:t>Feature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/>
                        <a:t>State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/>
                        <a:t>Notes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160020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Per-side border</a:t>
                      </a:r>
                    </a:p>
                  </a:txBody>
                  <a:tcPr>
                    <a:lnL w="19050">
                      <a:solidFill>
                        <a:srgbClr val="AA0000"/>
                      </a:solidFill>
                      <a:prstDash val="dash"/>
                    </a:lnL>
                    <a:lnR w="19050">
                      <a:solidFill>
                        <a:srgbClr val="00AA00"/>
                      </a:solidFill>
                      <a:prstDash val="dot"/>
                    </a:lnR>
                    <a:lnT w="19050">
                      <a:solidFill>
                        <a:srgbClr val="0000AA"/>
                      </a:solidFill>
                      <a:prstDash val="lgDash"/>
                    </a:lnT>
                    <a:lnB w="19050">
                      <a:solidFill>
                        <a:srgbClr val="77777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XML emits only configured sides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Shape 2"/>
          <p:cNvSpPr/>
          <p:nvPr/>
        </p:nvSpPr>
        <p:spPr>
          <a:xfrm>
            <a:off x="822960" y="1645920"/>
            <a:ext cx="2377440" cy="1005840"/>
          </a:xfrm>
          <a:prstGeom prst="roundRect">
            <a:avLst/>
          </a:prstGeom>
          <a:solidFill>
            <a:srgbClr val="D9E1F2"/>
          </a:solidFill>
          <a:ln w="19050">
            <a:solidFill>
              <a:srgbClr val="5B9BD5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2500" b="0" i="0" u="none" dirty="0">
                <a:solidFill>
                  <a:srgbClr val="000000"/>
                </a:solidFill>
              </a:rPr>
              <a:t>Input</a:t>
            </a:r>
          </a:p>
        </p:txBody>
      </p:sp>
      <p:sp>
        <p:nvSpPr>
          <p:cNvPr id="3" name="Shape 3"/>
          <p:cNvSpPr/>
          <p:nvPr/>
        </p:nvSpPr>
        <p:spPr>
          <a:xfrm>
            <a:off x="3749040" y="1463040"/>
            <a:ext cx="2560320" cy="1463040"/>
          </a:xfrm>
          <a:prstGeom prst="flowChartDecision">
            <a:avLst/>
          </a:prstGeom>
          <a:gradFill rotWithShape="1">
            <a:gsLst>
              <a:gs pos="0">
                <a:srgbClr val="4472C4"/>
              </a:gs>
              <a:gs pos="100000">
                <a:srgbClr val="8FB9E0">
                  <a:alpha val="80000"/>
                </a:srgbClr>
              </a:gs>
            </a:gsLst>
            <a:lin ang="2100000" scaled="1"/>
          </a:gradFill>
          <a:ln w="19050">
            <a:solidFill>
              <a:srgbClr val="1F4E78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0" i="0" u="none" dirty="0">
                <a:solidFill>
                  <a:srgbClr val="000000"/>
                </a:solidFill>
              </a:rPr>
              <a:t>Validate</a:t>
            </a:r>
          </a:p>
        </p:txBody>
      </p:sp>
      <p:cxnSp>
        <p:nvCxnSpPr>
          <p:cNvPr id="4" name="Connector 4"/>
          <p:cNvCxnSpPr>
            <a:stCxn id="2" idx="1"/>
            <a:endCxn id="3" idx="3"/>
          </p:cNvCxnSpPr>
          <p:nvPr/>
        </p:nvCxnSpPr>
        <p:spPr>
          <a:xfrm>
            <a:off x="3200400" y="2148840"/>
            <a:ext cx="548640" cy="0"/>
          </a:xfrm>
          <a:prstGeom prst="bentConnector3">
            <a:avLst/>
          </a:prstGeom>
          <a:ln w="13970">
            <a:solidFill>
              <a:srgbClr val="1F4E78"/>
            </a:solidFill>
            <a:prstDash val="dashDot"/>
            <a:tailEnd type="triangle" w="lg" len="lg"/>
          </a:ln>
        </p:spPr>
        <p:txBody>
          <a:bodyPr/>
          <a:lstStyle/>
          <a:p>
            <a:r>
              <a:rPr lang="en-US" sz="1000" b="0" i="0" u="none" dirty="0"/>
              <a:t>next</a:t>
            </a:r>
          </a:p>
        </p:txBody>
      </p:cxnSp>
    </p:spTree>
  </p:cSld>
  <p:clrMapOvr>
    <a:masterClrMapping/>
  </p:clrMapOvr>
</p:sld>
</file>

<file path=ppt/slides/slide7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Chart Sample (Combo)</a:t>
            </a:r>
          </a:p>
        </p:txBody>
      </p:sp>
      <p:graphicFrame>
        <p:nvGraphicFramePr>
          <p:cNvPr id="3" name="Chart 3"/>
          <p:cNvGraphicFramePr/>
          <p:nvPr/>
        </p:nvGraphicFramePr>
        <p:xfrm>
          <a:off x="685800" y="1800000"/>
          <a:ext cx="7772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Markdown Parsed Slide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Char char="•"/>
            </a:pPr>
            <a:r>
              <a:rPr lang="en-US" sz="2800" b="0" i="0" dirty="0"/>
              <a:t>Plain bullet</a:t>
            </a:r>
          </a:p>
          <a:p>
            <a:pPr lvl="0" marL="457200" indent="-457200">
              <a:buChar char="•"/>
            </a:pPr>
            <a:r>
              <a:rPr lang="en-US" sz="2800" b="1" i="0" u="none" dirty="0"/>
              <a:t>Bold</a:t>
            </a:r>
            <a:r>
              <a:rPr lang="en-US" sz="2800" b="0" i="0" u="none" dirty="0"/>
              <a:t> + </a:t>
            </a:r>
            <a:r>
              <a:rPr lang="en-US" sz="2800" b="0" i="1" u="none" dirty="0"/>
              <a:t>italic</a:t>
            </a:r>
            <a:r>
              <a:rPr lang="en-US" sz="2800" b="0" i="0" u="none" dirty="0"/>
              <a:t> + </a:t>
            </a:r>
            <a:r>
              <a:rPr lang="en-US" sz="2800" b="0" i="0" u="none" dirty="0">
                <a:latin typeface="Consolas"/>
              </a:rPr>
              <a:t>code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Markdown Parsed Slide 2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AutoNum type="arabicPeriod"/>
            </a:pPr>
            <a:r>
              <a:rPr lang="en-US" sz="2800" b="0" i="0" dirty="0"/>
              <a:t>Numbered item</a:t>
            </a:r>
          </a:p>
          <a:p>
            <a:pPr lvl="0" marL="457200" indent="-457200">
              <a:buAutoNum type="arabicPeriod"/>
            </a:pPr>
            <a:r>
              <a:rPr lang="en-US" sz="2800" b="0" i="0" dirty="0"/>
              <a:t>Another item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</Application>
  <PresentationFormat>On-screen Show (4:3)</PresentationFormat>
  <Paragraphs>0</Paragraphs>
  <Slides>9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goppt Feature Showcase</dc:title>
  <dc:creator>goppt</dc:creator>
  <cp:lastModifiedBy>goppt</cp:lastModifiedBy>
  <cp:revision>1</cp:revision>
  <dcterms:created xsi:type="dcterms:W3CDTF">2026-02-08T09:06:04Z</dcterms:created>
  <dcterms:modified xsi:type="dcterms:W3CDTF">2026-02-08T09:06:04Z</dcterms:modified>
</cp:coreProperties>
</file>