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Quarterly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100.000000</c:v>
              </c:pt>
              <c:pt idx="1">
                <c:v>200.000000</c:v>
              </c:pt>
              <c:pt idx="2">
                <c:v>150.000000</c:v>
              </c:pt>
              <c:pt idx="3">
                <c:v>300.000000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Monthly Trends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Series 1</c:v>
          </c:tx>
          <c:spPr>
            <a:solidFill>
              <a:srgbClr val="C0504D"/>
            </a:solidFill>
          </c:spPr>
          <c:cat>
            <c:strLit>
              <c:ptCount val="4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</c:strLit>
          </c:cat>
          <c:val>
            <c:numLit>
              <c:formatCode>General</c:formatCode>
              <c:ptCount val="4"/>
              <c:pt idx="0">
                <c:v>10.000000</c:v>
              </c:pt>
              <c:pt idx="1">
                <c:v>15.000000</c:v>
              </c:pt>
              <c:pt idx="2">
                <c:v>13.000000</c:v>
              </c:pt>
              <c:pt idx="3">
                <c:v>17.000000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Regional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Series 1</c:v>
          </c:tx>
          <c:cat>
            <c:strLit>
              <c:ptCount val="4"/>
              <c:pt idx="0">
                <c:v>East</c:v>
              </c:pt>
              <c:pt idx="1">
                <c:v>West</c:v>
              </c:pt>
              <c:pt idx="2">
                <c:v>North</c:v>
              </c:pt>
              <c:pt idx="3">
                <c:v>South</c:v>
              </c:pt>
            </c:strLit>
          </c:cat>
          <c:val>
            <c:numLit>
              <c:formatCode>General</c:formatCode>
              <c:ptCount val="4"/>
              <c:pt idx="0">
                <c:v>40.000000</c:v>
              </c:pt>
              <c:pt idx="1">
                <c:v>35.000000</c:v>
              </c:pt>
              <c:pt idx="2">
                <c:v>15.000000</c:v>
              </c:pt>
              <c:pt idx="3">
                <c:v>10.000000</c:v>
              </c:pt>
            </c:numLit>
          </c:val>
        </c:ser>
      </c:pieChart>
    </c:plotArea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Product Mix</a:t>
            </a:r>
          </a:p>
        </c:rich>
      </c:tx>
      <c:overlay val="0"/>
    </c:title>
    <c:autoTitleDeleted val="0"/>
    <c:plotArea>
      <c:layout/>
      <c:doughnutChart>
        <c:varyColors val="1"/>
        <c:holeSize val="50"/>
        <c:ser>
          <c:idx val="0"/>
          <c:order val="0"/>
          <c:tx>
            <c:v>Series 1</c:v>
          </c:tx>
          <c:cat>
            <c:strLit>
              <c:ptCount val="3"/>
              <c:pt idx="0">
                <c:v>Product A</c:v>
              </c:pt>
              <c:pt idx="1">
                <c:v>Product B</c:v>
              </c:pt>
              <c:pt idx="2">
                <c:v>Product C</c:v>
              </c:pt>
            </c:strLit>
          </c:cat>
          <c:val>
            <c:numLit>
              <c:formatCode>General</c:formatCode>
              <c:ptCount val="3"/>
              <c:pt idx="0">
                <c:v>50.000000</c:v>
              </c:pt>
              <c:pt idx="1">
                <c:v>30.000000</c:v>
              </c:pt>
              <c:pt idx="2">
                <c:v>20.000000</c:v>
              </c:pt>
            </c:numLit>
          </c:val>
        </c:ser>
      </c:doughnutChart>
    </c:plotArea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Scatter Plot</a:t>
            </a:r>
          </a:p>
        </c:rich>
      </c:tx>
      <c:overlay val="0"/>
    </c:title>
    <c:autoTitleDeleted val="0"/>
    <c:plotArea>
      <c:layout/>
      <c:scatterChart>
        <c:scatterStyle val="marker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xVal>
            <c:numLit>
              <c:formatCode>General</c:formatCode>
              <c:ptCount val="5"/>
              <c:pt idx="0">
                <c:v>1.000000</c:v>
              </c:pt>
              <c:pt idx="1">
                <c:v>2.000000</c:v>
              </c:pt>
              <c:pt idx="2">
                <c:v>3.000000</c:v>
              </c:pt>
              <c:pt idx="3">
                <c:v>4.000000</c:v>
              </c:pt>
              <c:pt idx="4">
                <c:v>5.000000</c:v>
              </c:pt>
            </c:numLit>
          </c:xVal>
          <c:yVal>
            <c:numLit>
              <c:formatCode>General</c:formatCode>
              <c:ptCount val="5"/>
              <c:pt idx="0">
                <c:v>10.000000</c:v>
              </c:pt>
              <c:pt idx="1">
                <c:v>25.000000</c:v>
              </c:pt>
              <c:pt idx="2">
                <c:v>30.000000</c:v>
              </c:pt>
              <c:pt idx="3">
                <c:v>45.000000</c:v>
              </c:pt>
              <c:pt idx="4">
                <c:v>60.000000</c:v>
              </c:pt>
            </c:numLit>
          </c:yVal>
        </c:ser>
        <c:axId val="48650112"/>
        <c:axId val="48672768"/>
      </c:scatterChart>
      <c:valAx>
        <c:axId val="48650112"/>
        <c:scaling>
          <c:orientation val="minMax"/>
        </c:scaling>
        <c:delete val="0"/>
        <c:axPos val="b"/>
        <c:numFmt formatCode="General" sourceLinked="1"/>
        <c:tickLblPos val="nextTo"/>
        <c:crossAx val="48672768"/>
        <c:crosses val="autoZero"/>
      </c:val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Revenue Growth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v>Series 1</c:v>
          </c:tx>
          <c:spPr>
            <a:solidFill>
              <a:srgbClr val="9BBB59"/>
            </a:solidFill>
          </c:spPr>
          <c:cat>
            <c:strLit>
              <c:ptCount val="4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</c:strLit>
          </c:cat>
          <c:val>
            <c:numLit>
              <c:formatCode>General</c:formatCode>
              <c:ptCount val="4"/>
              <c:pt idx="0">
                <c:v>500.000000</c:v>
              </c:pt>
              <c:pt idx="1">
                <c:v>700.000000</c:v>
              </c:pt>
              <c:pt idx="2">
                <c:v>1200.000000</c:v>
              </c:pt>
              <c:pt idx="3">
                <c:v>1500.000000</c:v>
              </c:pt>
            </c:numLit>
          </c:val>
        </c:ser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Attributes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Speed</c:v>
              </c:pt>
              <c:pt idx="1">
                <c:v>Power</c:v>
              </c:pt>
              <c:pt idx="2">
                <c:v>Durability</c:v>
              </c:pt>
              <c:pt idx="3">
                <c:v>Range</c:v>
              </c:pt>
            </c:strLit>
          </c:cat>
          <c:val>
            <c:numLit>
              <c:formatCode>General</c:formatCode>
              <c:ptCount val="4"/>
              <c:pt idx="0">
                <c:v>8.000000</c:v>
              </c:pt>
              <c:pt idx="1">
                <c:v>9.000000</c:v>
              </c:pt>
              <c:pt idx="2">
                <c:v>7.000000</c:v>
              </c:pt>
              <c:pt idx="3">
                <c:v>6.000000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Attributes (Filled)</a:t>
            </a:r>
          </a:p>
        </c:rich>
      </c:tx>
      <c:overlay val="0"/>
    </c:title>
    <c:autoTitleDeleted val="0"/>
    <c:plotArea>
      <c:layout/>
      <c:radarChart>
        <c:radarStyle val="filled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Speed</c:v>
              </c:pt>
              <c:pt idx="1">
                <c:v>Power</c:v>
              </c:pt>
              <c:pt idx="2">
                <c:v>Durability</c:v>
              </c:pt>
              <c:pt idx="3">
                <c:v>Range</c:v>
              </c:pt>
            </c:strLit>
          </c:cat>
          <c:val>
            <c:numLit>
              <c:formatCode>General</c:formatCode>
              <c:ptCount val="4"/>
              <c:pt idx="0">
                <c:v>5.000000</c:v>
              </c:pt>
              <c:pt idx="1">
                <c:v>6.000000</c:v>
              </c:pt>
              <c:pt idx="2">
                <c:v>8.000000</c:v>
              </c:pt>
              <c:pt idx="3">
                <c:v>9.000000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Bubble Chart</a:t>
            </a:r>
          </a:p>
        </c:rich>
      </c:tx>
      <c:overlay val="0"/>
    </c:title>
    <c:autoTitleDeleted val="0"/>
    <c:plotArea>
      <c:layout/>
      <c:bubbleChart>
        <c:varyColors val="0"/>
        <c:bubbleScale val="10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xVal>
            <c:numLit>
              <c:formatCode>General</c:formatCode>
              <c:ptCount val="4"/>
              <c:pt idx="0">
                <c:v>10.000000</c:v>
              </c:pt>
              <c:pt idx="1">
                <c:v>20.000000</c:v>
              </c:pt>
              <c:pt idx="2">
                <c:v>30.000000</c:v>
              </c:pt>
              <c:pt idx="3">
                <c:v>40.000000</c:v>
              </c:pt>
            </c:numLit>
          </c:xVal>
          <c:yVal>
            <c:numLit>
              <c:formatCode>General</c:formatCode>
              <c:ptCount val="4"/>
              <c:pt idx="0">
                <c:v>5.000000</c:v>
              </c:pt>
              <c:pt idx="1">
                <c:v>10.000000</c:v>
              </c:pt>
              <c:pt idx="2">
                <c:v>15.000000</c:v>
              </c:pt>
              <c:pt idx="3">
                <c:v>20.000000</c:v>
              </c:pt>
            </c:numLit>
          </c:yVal>
          <c:bubbleSize>
            <c:numLit>
              <c:formatCode>General</c:formatCode>
              <c:ptCount val="4"/>
              <c:pt idx="0">
                <c:v>2.000000</c:v>
              </c:pt>
              <c:pt idx="1">
                <c:v>4.000000</c:v>
              </c:pt>
              <c:pt idx="2">
                <c:v>6.000000</c:v>
              </c:pt>
              <c:pt idx="3">
                <c:v>8.000000</c:v>
              </c:pt>
            </c:numLit>
          </c:bubbleSize>
        </c:ser>
        <c:axId val="48650112"/>
        <c:axId val="48672768"/>
      </c:bubbleChart>
      <c:valAx>
        <c:axId val="48650112"/>
        <c:scaling>
          <c:orientation val="minMax"/>
        </c:scaling>
        <c:delete val="0"/>
        <c:axPos val="b"/>
        <c:numFmt formatCode="General" sourceLinked="1"/>
        <c:tickLblPos val="nextTo"/>
        <c:crossAx val="48672768"/>
        <c:crosses val="autoZero"/>
      </c:val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Stock HLC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v>High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100.000000</c:v>
              </c:pt>
              <c:pt idx="1">
                <c:v>110.000000</c:v>
              </c:pt>
              <c:pt idx="2">
                <c:v>105.000000</c:v>
              </c:pt>
            </c:numLit>
          </c:val>
        </c:ser>
        <c:ser>
          <c:idx val="1"/>
          <c:order val="1"/>
          <c:tx>
            <c:v>Low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90.000000</c:v>
              </c:pt>
              <c:pt idx="1">
                <c:v>95.000000</c:v>
              </c:pt>
              <c:pt idx="2">
                <c:v>98.000000</c:v>
              </c:pt>
            </c:numLit>
          </c:val>
        </c:ser>
        <c:ser>
          <c:idx val="2"/>
          <c:order val="2"/>
          <c:tx>
            <c:v>Close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95.000000</c:v>
              </c:pt>
              <c:pt idx="1">
                <c:v>100.000000</c:v>
              </c:pt>
              <c:pt idx="2">
                <c:v>102.000000</c:v>
              </c:pt>
            </c:numLit>
          </c:val>
        </c:ser>
        <c:hiLowLines/>
        <c:axId val="48650112"/>
        <c:axId val="48672768"/>
      </c:stock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Stock OHLC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v>Open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92.000000</c:v>
              </c:pt>
              <c:pt idx="1">
                <c:v>98.000000</c:v>
              </c:pt>
              <c:pt idx="2">
                <c:v>100.000000</c:v>
              </c:pt>
            </c:numLit>
          </c:val>
        </c:ser>
        <c:ser>
          <c:idx val="1"/>
          <c:order val="1"/>
          <c:tx>
            <c:v>High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100.000000</c:v>
              </c:pt>
              <c:pt idx="1">
                <c:v>110.000000</c:v>
              </c:pt>
              <c:pt idx="2">
                <c:v>105.000000</c:v>
              </c:pt>
            </c:numLit>
          </c:val>
        </c:ser>
        <c:ser>
          <c:idx val="2"/>
          <c:order val="2"/>
          <c:tx>
            <c:v>Low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90.000000</c:v>
              </c:pt>
              <c:pt idx="1">
                <c:v>95.000000</c:v>
              </c:pt>
              <c:pt idx="2">
                <c:v>98.000000</c:v>
              </c:pt>
            </c:numLit>
          </c:val>
        </c:ser>
        <c:ser>
          <c:idx val="3"/>
          <c:order val="3"/>
          <c:tx>
            <c:v>Close</c:v>
          </c:tx>
          <c:cat>
            <c:strLit>
              <c:ptCount val="3"/>
              <c:pt idx="0">
                <c:v>Day 1</c:v>
              </c:pt>
              <c:pt idx="1">
                <c:v>Day 2</c:v>
              </c:pt>
              <c:pt idx="2">
                <c:v>Day 3</c:v>
              </c:pt>
            </c:strLit>
          </c:cat>
          <c:val>
            <c:numLit>
              <c:formatCode>General</c:formatCode>
              <c:ptCount val="3"/>
              <c:pt idx="0">
                <c:v>95.000000</c:v>
              </c:pt>
              <c:pt idx="1">
                <c:v>100.000000</c:v>
              </c:pt>
              <c:pt idx="2">
                <c:v>102.000000</c:v>
              </c:pt>
            </c:numLit>
          </c:val>
        </c:ser>
        <c:hiLowLines/>
        <c:upDownBars>
          <c:gapWidth val="150"/>
          <c:upBars/>
          <c:downBars/>
        </c:upDownBars>
        <c:axId val="48650112"/>
        <c:axId val="48672768"/>
      </c:stock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Company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v>Revenue</c:v>
          </c:tx>
          <c:cat>
            <c:strLit>
              <c:ptCount val="4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</c:strLit>
          </c:cat>
          <c:val>
            <c:numLit>
              <c:formatCode>General</c:formatCode>
              <c:ptCount val="4"/>
              <c:pt idx="0">
                <c:v>100.000000</c:v>
              </c:pt>
              <c:pt idx="1">
                <c:v>150.000000</c:v>
              </c:pt>
              <c:pt idx="2">
                <c:v>200.000000</c:v>
              </c:pt>
              <c:pt idx="3">
                <c:v>250.000000</c:v>
              </c:pt>
            </c:numLit>
          </c:val>
        </c:ser>
        <c:axId val="48650112"/>
        <c:axId val="48672768"/>
      </c:barChart>
      <c:lineChart>
        <c:grouping val="standard"/>
        <c:ser>
          <c:idx val="1"/>
          <c:order val="1"/>
          <c:tx>
            <c:v>Growth</c:v>
          </c:tx>
          <c:cat>
            <c:strLit>
              <c:ptCount val="4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</c:strLit>
          </c:cat>
          <c:val>
            <c:numLit>
              <c:formatCode>General</c:formatCode>
              <c:ptCount val="4"/>
              <c:pt idx="0">
                <c:v>10.000000</c:v>
              </c:pt>
              <c:pt idx="1">
                <c:v>50.000000</c:v>
              </c:pt>
              <c:pt idx="2">
                <c:v>33.000000</c:v>
              </c:pt>
              <c:pt idx="3">
                <c:v>25.000000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4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7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8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9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0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2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Bar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Line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Pie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Doughnut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Scatter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Area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Radar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Radar Chart (Filled)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Bubble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Stock HLC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Stock OHLC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Combo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12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09: Charts</dc:title>
  <dc:creator>goppt</dc:creator>
  <cp:lastModifiedBy>goppt</cp:lastModifiedBy>
  <cp:revision>1</cp:revision>
  <dcterms:created xsi:type="dcterms:W3CDTF">2026-02-08T09:33:02Z</dcterms:created>
  <dcterms:modified xsi:type="dcterms:W3CDTF">2026-02-08T09:33:02Z</dcterms:modified>
</cp:coreProperties>
</file>