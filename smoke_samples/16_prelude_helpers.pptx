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  <p:sldId id="260" r:id="rId6"/>
    <p:sldId id="261" r:id="rId7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Relationship Id="rId4" Type="http://schemas.openxmlformats.org/officeDocument/2006/relationships/slide" Target="slides/slide2.xml"/>
<Relationship Id="rId5" Type="http://schemas.openxmlformats.org/officeDocument/2006/relationships/slide" Target="slides/slide3.xml"/>
<Relationship Id="rId6" Type="http://schemas.openxmlformats.org/officeDocument/2006/relationships/slide" Target="slides/slide4.xml"/>
<Relationship Id="rId7" Type="http://schemas.openxmlformats.org/officeDocument/2006/relationships/slide" Target="slides/slide5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Ergonomic Prelude Helpers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New Ergonomic API Features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Fluent PresentationBuilder API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One-line Title/Bullet/Shapes slides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Overflow-protected unit converters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Hundredths of a point font size helper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Expanded Shape Macros</a:t>
            </a:r>
          </a:p>
        </p:txBody>
      </p:sp>
      <p:sp>
        <p:nvSpPr>
          <p:cNvPr id="3" name="Shape 3"/>
          <p:cNvSpPr/>
          <p:nvPr/>
        </p:nvSpPr>
        <p:spPr>
          <a:xfrm>
            <a:off x="914400" y="914400"/>
            <a:ext cx="1828800" cy="1828800"/>
          </a:xfrm>
          <a:prstGeom prst="star5">
            <a:avLst/>
          </a:prstGeom>
          <a:solidFill>
            <a:srgbClr val="FFC107"/>
          </a:solidFill>
        </p:spPr>
        <p:txBody>
          <a:bodyPr wrap="square" rtlCol="0" anchor="ctr" marL="45720" marT="45720" marR="45720" marB="45720">
            <a:spAutoFit/>
          </a:bodyPr>
          <a:lstStyle/>
          <a:p>
            <a:pPr algn="l"/>
            <a:r>
              <a:rPr lang="en-US" sz="3600" b="0" i="0" u="none" dirty="0">
                <a:solidFill>
                  <a:srgbClr val="000000"/>
                </a:solidFill>
              </a:rPr>
              <a:t>New Star</a:t>
            </a:r>
          </a:p>
        </p:txBody>
      </p:sp>
      <p:sp>
        <p:nvSpPr>
          <p:cNvPr id="4" name="Shape 4"/>
          <p:cNvSpPr/>
          <p:nvPr/>
        </p:nvSpPr>
        <p:spPr>
          <a:xfrm>
            <a:off x="3657600" y="914400"/>
            <a:ext cx="1828800" cy="1828800"/>
          </a:xfrm>
          <a:prstGeom prst="heart">
            <a:avLst/>
          </a:prstGeom>
          <a:solidFill>
            <a:srgbClr val="F44336"/>
          </a:solidFill>
        </p:spPr>
        <p:txBody>
          <a:bodyPr wrap="square" rtlCol="0" anchor="ctr" marL="45720" marT="45720" marR="45720" marB="45720">
            <a:spAutoFit/>
          </a:bodyPr>
          <a:lstStyle/>
          <a:p>
            <a:pPr algn="l"/>
            <a:r>
              <a:rPr lang="en-US" sz="3600" b="0" i="0" u="none" dirty="0">
                <a:solidFill>
                  <a:srgbClr val="000000"/>
                </a:solidFill>
              </a:rPr>
              <a:t>New Heart</a:t>
            </a:r>
          </a:p>
        </p:txBody>
      </p:sp>
      <p:sp>
        <p:nvSpPr>
          <p:cNvPr id="5" name="Shape 5"/>
          <p:cNvSpPr/>
          <p:nvPr/>
        </p:nvSpPr>
        <p:spPr>
          <a:xfrm>
            <a:off x="6400800" y="914400"/>
            <a:ext cx="1828800" cy="1828800"/>
          </a:xfrm>
          <a:prstGeom prst="ellipse">
            <a:avLst/>
          </a:prstGeom>
          <a:solidFill>
            <a:srgbClr val="2196F3"/>
          </a:solidFill>
        </p:spPr>
        <p:txBody>
          <a:bodyPr wrap="square" rtlCol="0" anchor="ctr" marL="45720" marT="45720" marR="45720" marB="45720">
            <a:spAutoFit/>
          </a:bodyPr>
          <a:lstStyle/>
          <a:p>
            <a:pPr algn="l"/>
            <a:r>
              <a:rPr lang="en-US" sz="3600" b="0" i="0" u="none" dirty="0">
                <a:solidFill>
                  <a:srgbClr val="000000"/>
                </a:solidFill>
              </a:rPr>
              <a:t>New Circle</a:t>
            </a:r>
          </a:p>
        </p:txBody>
      </p:sp>
      <p:sp>
        <p:nvSpPr>
          <p:cNvPr id="6" name="Shape 6"/>
          <p:cNvSpPr/>
          <p:nvPr/>
        </p:nvSpPr>
        <p:spPr>
          <a:xfrm>
            <a:off x="914400" y="3657600"/>
            <a:ext cx="1371600" cy="365760"/>
          </a:xfrm>
          <a:prstGeom prst="roundRect">
            <a:avLst/>
          </a:prstGeom>
          <a:solidFill>
            <a:srgbClr val="4CAF50"/>
          </a:solidFill>
        </p:spPr>
        <p:txBody>
          <a:bodyPr wrap="square" rtlCol="0" anchor="ctr" marL="45720" marT="45720" marR="45720" marB="45720">
            <a:spAutoFit/>
          </a:bodyPr>
          <a:lstStyle/>
          <a:p>
            <a:pPr algn="l"/>
            <a:r>
              <a:rPr lang="en-US" sz="1000" b="0" i="0" u="none" dirty="0">
                <a:solidFill>
                  <a:srgbClr val="000000"/>
                </a:solidFill>
              </a:rPr>
              <a:t>NEW FEATURE</a:t>
            </a:r>
          </a:p>
        </p:txBody>
      </p:sp>
      <p:sp>
        <p:nvSpPr>
          <p:cNvPr id="7" name="Shape 7"/>
          <p:cNvSpPr/>
          <p:nvPr/>
        </p:nvSpPr>
        <p:spPr>
          <a:xfrm>
            <a:off x="3657600" y="3657600"/>
            <a:ext cx="1371600" cy="365760"/>
          </a:xfrm>
          <a:prstGeom prst="roundRect">
            <a:avLst/>
          </a:prstGeom>
          <a:solidFill>
            <a:srgbClr val="0043CE"/>
          </a:solidFill>
        </p:spPr>
        <p:txBody>
          <a:bodyPr wrap="square" rtlCol="0" anchor="ctr" marL="45720" marT="45720" marR="45720" marB="45720">
            <a:spAutoFit/>
          </a:bodyPr>
          <a:lstStyle/>
          <a:p>
            <a:pPr algn="l"/>
            <a:r>
              <a:rPr lang="en-US" sz="1000" b="0" i="0" u="none" dirty="0">
                <a:solidFill>
                  <a:srgbClr val="FFFFFF"/>
                </a:solidFill>
              </a:rPr>
              <a:t>IBM CARBON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FlowChart Components</a:t>
            </a:r>
          </a:p>
        </p:txBody>
      </p:sp>
      <p:sp>
        <p:nvSpPr>
          <p:cNvPr id="3" name="Shape 3"/>
          <p:cNvSpPr/>
          <p:nvPr/>
        </p:nvSpPr>
        <p:spPr>
          <a:xfrm>
            <a:off x="914400" y="914400"/>
            <a:ext cx="1828800" cy="914400"/>
          </a:xfrm>
          <a:prstGeom prst="flowChartProcess">
            <a:avLst/>
          </a:prstGeom>
          <a:noFill/>
        </p:spPr>
        <p:txBody>
          <a:bodyPr wrap="square" rtlCol="0" anchor="ctr" marL="45720" marT="45720" marR="45720" marB="45720">
            <a:spAutoFit/>
          </a:bodyPr>
          <a:lstStyle/>
          <a:p>
            <a:pPr algn="l"/>
            <a:r>
              <a:rPr lang="en-US" sz="2000" b="0" i="0" u="none" dirty="0">
                <a:solidFill>
                  <a:srgbClr val="000000"/>
                </a:solidFill>
              </a:rPr>
              <a:t>Start Process</a:t>
            </a:r>
          </a:p>
        </p:txBody>
      </p:sp>
      <p:sp>
        <p:nvSpPr>
          <p:cNvPr id="4" name="Shape 4"/>
          <p:cNvSpPr/>
          <p:nvPr/>
        </p:nvSpPr>
        <p:spPr>
          <a:xfrm>
            <a:off x="3657600" y="685800"/>
            <a:ext cx="1371600" cy="1371600"/>
          </a:xfrm>
          <a:prstGeom prst="flowChartDecision">
            <a:avLst/>
          </a:prstGeom>
          <a:noFill/>
        </p:spPr>
        <p:txBody>
          <a:bodyPr wrap="square" rtlCol="0" anchor="ctr" marL="45720" marT="45720" marR="45720" marB="45720">
            <a:spAutoFit/>
          </a:bodyPr>
          <a:lstStyle/>
          <a:p>
            <a:pPr algn="l"/>
            <a:r>
              <a:rPr lang="en-US" sz="3000" b="0" i="0" u="none" dirty="0">
                <a:solidFill>
                  <a:srgbClr val="000000"/>
                </a:solidFill>
              </a:rPr>
              <a:t>Is Valid?</a:t>
            </a:r>
          </a:p>
        </p:txBody>
      </p:sp>
      <p:sp>
        <p:nvSpPr>
          <p:cNvPr id="5" name="Shape 5"/>
          <p:cNvSpPr/>
          <p:nvPr/>
        </p:nvSpPr>
        <p:spPr>
          <a:xfrm>
            <a:off x="6400800" y="914400"/>
            <a:ext cx="1828800" cy="1371600"/>
          </a:xfrm>
          <a:prstGeom prst="flowChartDocument">
            <a:avLst/>
          </a:prstGeom>
          <a:noFill/>
        </p:spPr>
        <p:txBody>
          <a:bodyPr wrap="square" rtlCol="0" anchor="ctr" marL="45720" marT="45720" marR="45720" marB="45720">
            <a:spAutoFit/>
          </a:bodyPr>
          <a:lstStyle/>
          <a:p>
            <a:pPr algn="l"/>
            <a:r>
              <a:rPr lang="en-US" sz="3000" b="0" i="0" u="none" dirty="0">
                <a:solidFill>
                  <a:srgbClr val="000000"/>
                </a:solidFill>
              </a:rPr>
              <a:t>Output Doc</a:t>
            </a:r>
          </a:p>
        </p:txBody>
      </p:sp>
      <p:sp>
        <p:nvSpPr>
          <p:cNvPr id="6" name="Shape 6"/>
          <p:cNvSpPr/>
          <p:nvPr/>
        </p:nvSpPr>
        <p:spPr>
          <a:xfrm>
            <a:off x="914400" y="3657600"/>
            <a:ext cx="1828800" cy="914400"/>
          </a:xfrm>
          <a:prstGeom prst="flowChartInputOutput">
            <a:avLst/>
          </a:prstGeom>
          <a:noFill/>
        </p:spPr>
        <p:txBody>
          <a:bodyPr wrap="square" rtlCol="0" anchor="ctr" marL="45720" marT="45720" marR="45720" marB="45720">
            <a:spAutoFit/>
          </a:bodyPr>
          <a:lstStyle/>
          <a:p>
            <a:pPr algn="l"/>
            <a:r>
              <a:rPr lang="en-US" sz="2000" b="0" i="0" u="none" dirty="0">
                <a:solidFill>
                  <a:srgbClr val="000000"/>
                </a:solidFill>
              </a:rPr>
              <a:t>Input Data</a:t>
            </a:r>
          </a:p>
        </p:txBody>
      </p:sp>
      <p:sp>
        <p:nvSpPr>
          <p:cNvPr id="7" name="Shape 7"/>
          <p:cNvSpPr/>
          <p:nvPr/>
        </p:nvSpPr>
        <p:spPr>
          <a:xfrm>
            <a:off x="3657600" y="3657600"/>
            <a:ext cx="1828800" cy="914400"/>
          </a:xfrm>
          <a:prstGeom prst="flowChartTerminator">
            <a:avLst/>
          </a:prstGeom>
          <a:noFill/>
        </p:spPr>
        <p:txBody>
          <a:bodyPr wrap="square" rtlCol="0" anchor="ctr" marL="45720" marT="45720" marR="45720" marB="45720">
            <a:spAutoFit/>
          </a:bodyPr>
          <a:lstStyle/>
          <a:p>
            <a:pPr algn="l"/>
            <a:r>
              <a:rPr lang="en-US" sz="2000" b="0" i="0" u="none" dirty="0">
                <a:solidFill>
                  <a:srgbClr val="000000"/>
                </a:solidFill>
              </a:rPr>
              <a:t>End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Robust Unit Conversions</a:t>
            </a:r>
          </a:p>
        </p:txBody>
      </p:sp>
      <p:sp>
        <p:nvSpPr>
          <p:cNvPr id="3" name="Shape 3"/>
          <p:cNvSpPr/>
          <p:nvPr/>
        </p:nvSpPr>
        <p:spPr>
          <a:xfrm>
            <a:off x="457200" y="914400"/>
            <a:ext cx="7315200" cy="457200"/>
          </a:xfrm>
          <a:prstGeom prst="rect">
            <a:avLst/>
          </a:prstGeom>
          <a:noFill/>
        </p:spPr>
        <p:txBody>
          <a:bodyPr wrap="square" rtlCol="0" anchor="ctr" marL="45720" marT="45720" marR="45720" marB="45720">
            <a:spAutoFit/>
          </a:bodyPr>
          <a:lstStyle/>
          <a:p>
            <a:pPr algn="l"/>
            <a:r>
              <a:rPr lang="en-US" sz="1000" b="0" i="0" u="none" dirty="0">
                <a:solidFill>
                  <a:srgbClr val="000000"/>
                </a:solidFill>
              </a:rPr>
              <a:t>Full-width Shape (8 inches)</a:t>
            </a:r>
          </a:p>
        </p:txBody>
      </p:sp>
      <p:sp>
        <p:nvSpPr>
          <p:cNvPr id="4" name="Shape 4"/>
          <p:cNvSpPr/>
          <p:nvPr/>
        </p:nvSpPr>
        <p:spPr>
          <a:xfrm>
            <a:off x="914400" y="2743200"/>
            <a:ext cx="1828800" cy="1828800"/>
          </a:xfrm>
          <a:prstGeom prst="rect">
            <a:avLst/>
          </a:prstGeom>
          <a:noFill/>
        </p:spPr>
        <p:txBody>
          <a:bodyPr wrap="square" rtlCol="0" anchor="ctr" marL="45720" marT="45720" marR="45720" marB="45720">
            <a:spAutoFit/>
          </a:bodyPr>
          <a:lstStyle/>
          <a:p>
            <a:pPr algn="l"/>
            <a:r>
              <a:rPr lang="en-US" sz="3100" b="0" i="0" u="none" dirty="0">
                <a:solidFill>
                  <a:srgbClr val="000000"/>
                </a:solidFill>
              </a:rPr>
              <a:t>Standard 2x2 Inch Shape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 marketing">
  <a:themeElements>
    <a:clrScheme name="Office color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5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GoPPTX Prelude Helpers Showcase</dc:title>
  <dc:subject/>
  <dc:creator>GoPPTX Agent</dc:creator>
  <cp:lastModifiedBy>GoPPTX Agent</cp:lastModifiedBy>
  <dc:description/>
  <cp:revision>1</cp:revision>
  <dcterms:created xsi:type="dcterms:W3CDTF">2026-02-12T02:17:09Z</dcterms:created>
  <dcterms:modified xsi:type="dcterms:W3CDTF">2026-02-12T02:17:09Z</dcterms:modified>
</cp:coreProperties>
</file>